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7" r:id="rId5"/>
    <p:sldId id="258" r:id="rId6"/>
    <p:sldId id="2146848334" r:id="rId7"/>
    <p:sldId id="259" r:id="rId8"/>
    <p:sldId id="2146848336" r:id="rId9"/>
    <p:sldId id="2146848338" r:id="rId10"/>
    <p:sldId id="2146848337" r:id="rId11"/>
  </p:sldIdLst>
  <p:sldSz cx="12192000" cy="6858000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1AEE0EDF-383B-44AF-9129-2879A91ABAD5}">
          <p14:sldIdLst>
            <p14:sldId id="257"/>
            <p14:sldId id="258"/>
            <p14:sldId id="2146848334"/>
            <p14:sldId id="259"/>
            <p14:sldId id="2146848336"/>
            <p14:sldId id="2146848338"/>
            <p14:sldId id="21468483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6072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2" roundtripDataSignature="AMtx7mgWjmh0+iogvtzdMzIKP9zrLAoQv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rad Hunter" initials="" lastIdx="6" clrIdx="0"/>
  <p:cmAuthor id="1" name="Brad Hunter" initials="BH" lastIdx="3" clrIdx="1">
    <p:extLst>
      <p:ext uri="{19B8F6BF-5375-455C-9EA6-DF929625EA0E}">
        <p15:presenceInfo xmlns:p15="http://schemas.microsoft.com/office/powerpoint/2012/main" userId="S::brad.hunter@packagedagile.com::702da67d-1178-488f-bb36-616516c1b7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8FF"/>
    <a:srgbClr val="FFFFFF"/>
    <a:srgbClr val="DBEED5"/>
    <a:srgbClr val="0000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BC4DC9-6357-4CBD-B6E6-9500A85C5769}">
  <a:tblStyle styleId="{62BC4DC9-6357-4CBD-B6E6-9500A85C576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20" y="84"/>
      </p:cViewPr>
      <p:guideLst>
        <p:guide orient="horz"/>
        <p:guide pos="60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63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67" Type="http://schemas.openxmlformats.org/officeDocument/2006/relationships/tableStyles" Target="tableStyles.xml"/><Relationship Id="rId2" Type="http://schemas.openxmlformats.org/officeDocument/2006/relationships/customXml" Target="../customXml/item2.xml"/><Relationship Id="rId62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6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A0F18F-75C5-1441-F268-0EDD0BE3C5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161F95-5CF1-BC7D-A084-8D58834869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BD35E0-41AF-4C24-9EDA-3073C1A9F7EF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2CD7BA-1EC3-0B51-4D3E-4B1099BBDC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2025 Packaged Agile, LLC Proprietary and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F6CCC-D8AC-9A2D-B64C-8347E48822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1EA75C-C822-4CD3-8A91-092760ED3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1599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155" tIns="41577" rIns="83155" bIns="41577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7" y="1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155" tIns="41577" rIns="83155" bIns="41577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155" tIns="41577" rIns="83155" bIns="41577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81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155" tIns="41577" rIns="83155" bIns="41577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2025 Packaged Agile, LLC Proprietary and Confidential</a:t>
            </a:r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7" y="9119481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155" tIns="41577" rIns="83155" bIns="41577" anchor="b" anchorCtr="0">
            <a:noAutofit/>
          </a:bodyPr>
          <a:lstStyle/>
          <a:p>
            <a:pPr algn="r">
              <a:buSzPts val="1300"/>
            </a:pPr>
            <a:fld id="{00000000-1234-1234-1234-123412341234}" type="slidenum">
              <a:rPr lang="en-US" sz="12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ts val="1300"/>
              </a:pPr>
              <a:t>‹#›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71AE3-4DA7-96A4-78F0-749DF5EF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34E46-E343-AABC-55EF-003672476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21AEC-B167-446D-3845-CA2D59B0F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924D5-5BB1-A9EC-9F34-E08478050A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267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9631C-D3CE-B9F3-E330-BD97ED684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3DA2F-4F11-EFA1-AAD9-FF75AE2CE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11D198-F6D3-FD90-4CB8-4DEFAD255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B8F8B-F02F-B737-342A-E0553B0C6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358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hyperlink" Target="mailto:info@packagedagile.com" TargetMode="External"/><Relationship Id="rId5" Type="http://schemas.openxmlformats.org/officeDocument/2006/relationships/hyperlink" Target="http://www.packagedagile.com/" TargetMode="Externa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ackagedagile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mailto:info@packagedagile.com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008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3B1F2C9-7D8B-E853-59DC-D211A73B583A}"/>
              </a:ext>
            </a:extLst>
          </p:cNvPr>
          <p:cNvSpPr txBox="1"/>
          <p:nvPr userDrawn="1"/>
        </p:nvSpPr>
        <p:spPr>
          <a:xfrm>
            <a:off x="417385" y="6506031"/>
            <a:ext cx="47270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RadikalW03-Regular" pitchFamily="2" charset="77"/>
              </a:rPr>
              <a:t>© 2025 Packaged Agile, LLC. Proprietary and Confidential. All Rights Reserved.</a:t>
            </a:r>
          </a:p>
        </p:txBody>
      </p:sp>
      <p:pic>
        <p:nvPicPr>
          <p:cNvPr id="10" name="Picture 9" descr="Text&#10;&#10;Description automatically generated with low confidence">
            <a:extLst>
              <a:ext uri="{FF2B5EF4-FFF2-40B4-BE49-F238E27FC236}">
                <a16:creationId xmlns:a16="http://schemas.microsoft.com/office/drawing/2014/main" id="{38D97BBA-F3BF-3FDD-EE35-70DB7BD9A5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357" y="361631"/>
            <a:ext cx="2420550" cy="7822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574D8D-9340-F276-7C59-D2D5625F56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29283" y="0"/>
            <a:ext cx="7062717" cy="6858000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CEC48ADF-6A98-702E-3CE1-B4340C9C48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56" y="1472312"/>
            <a:ext cx="4539304" cy="188048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Aft>
                <a:spcPts val="1800"/>
              </a:spcAft>
              <a:defRPr sz="3600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20" name="Content Placeholder 18">
            <a:extLst>
              <a:ext uri="{FF2B5EF4-FFF2-40B4-BE49-F238E27FC236}">
                <a16:creationId xmlns:a16="http://schemas.microsoft.com/office/drawing/2014/main" id="{90BED17B-AB5F-91C6-0736-6C3C4A70017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60356" y="5378943"/>
            <a:ext cx="2519997" cy="4369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  <a:defRPr sz="1600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</a:lstStyle>
          <a:p>
            <a:pPr lvl="0"/>
            <a:r>
              <a:rPr lang="en-US"/>
              <a:t>Month Year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2ABB762-CD80-E248-CD0F-E7C30AFF22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998" y="3710469"/>
            <a:ext cx="4538662" cy="1173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  <a:lvl2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075231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008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3B1F2C9-7D8B-E853-59DC-D211A73B583A}"/>
              </a:ext>
            </a:extLst>
          </p:cNvPr>
          <p:cNvSpPr txBox="1"/>
          <p:nvPr userDrawn="1"/>
        </p:nvSpPr>
        <p:spPr>
          <a:xfrm>
            <a:off x="417385" y="6562593"/>
            <a:ext cx="47270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RadikalW03-Regular" pitchFamily="2" charset="77"/>
              </a:rPr>
              <a:t>© 2025 Packaged Agile, LLC. Proprietary and Confidential. All Rights Reserved.</a:t>
            </a:r>
          </a:p>
        </p:txBody>
      </p:sp>
      <p:pic>
        <p:nvPicPr>
          <p:cNvPr id="10" name="Picture 9" descr="Text&#10;&#10;Description automatically generated with low confidence">
            <a:extLst>
              <a:ext uri="{FF2B5EF4-FFF2-40B4-BE49-F238E27FC236}">
                <a16:creationId xmlns:a16="http://schemas.microsoft.com/office/drawing/2014/main" id="{38D97BBA-F3BF-3FDD-EE35-70DB7BD9A5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0357" y="361631"/>
            <a:ext cx="2420550" cy="782251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7AE48F-ADC4-2D84-53C9-9B27BC74A2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27638" y="0"/>
            <a:ext cx="696436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16">
            <a:extLst>
              <a:ext uri="{FF2B5EF4-FFF2-40B4-BE49-F238E27FC236}">
                <a16:creationId xmlns:a16="http://schemas.microsoft.com/office/drawing/2014/main" id="{80CBB885-A82A-4159-E18C-CA1D341CC9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56" y="1472312"/>
            <a:ext cx="4539304" cy="1880488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10000"/>
              </a:lnSpc>
              <a:spcAft>
                <a:spcPts val="1800"/>
              </a:spcAft>
              <a:defRPr sz="3600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Content Placeholder 18">
            <a:extLst>
              <a:ext uri="{FF2B5EF4-FFF2-40B4-BE49-F238E27FC236}">
                <a16:creationId xmlns:a16="http://schemas.microsoft.com/office/drawing/2014/main" id="{36F13EC9-712E-4027-F012-1EB64C97F5B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60356" y="5378943"/>
            <a:ext cx="2519997" cy="4369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  <a:defRPr sz="1600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</a:lstStyle>
          <a:p>
            <a:pPr lvl="0"/>
            <a:r>
              <a:rPr lang="en-US"/>
              <a:t>Month Year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60E57810-3993-54A6-4271-FADB4984FD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998" y="3710469"/>
            <a:ext cx="4538662" cy="11732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  <a:lvl2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37816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2011AE8-2D97-90BD-D00B-2A342C9C6FE8}"/>
              </a:ext>
            </a:extLst>
          </p:cNvPr>
          <p:cNvSpPr/>
          <p:nvPr userDrawn="1"/>
        </p:nvSpPr>
        <p:spPr>
          <a:xfrm>
            <a:off x="5904089" y="0"/>
            <a:ext cx="62879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adikalW03-Regular" panose="01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85F17B-16C9-752D-983E-1AC46FF1EA33}"/>
              </a:ext>
            </a:extLst>
          </p:cNvPr>
          <p:cNvSpPr txBox="1"/>
          <p:nvPr userDrawn="1"/>
        </p:nvSpPr>
        <p:spPr>
          <a:xfrm>
            <a:off x="417385" y="6506031"/>
            <a:ext cx="416449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RadikalW03-Regular" panose="01000000000000000000" pitchFamily="2" charset="0"/>
              </a:rPr>
              <a:t>Copyright © 2025 Packaged Agile, LLC. All Rights Reserved.</a:t>
            </a:r>
          </a:p>
        </p:txBody>
      </p:sp>
      <p:pic>
        <p:nvPicPr>
          <p:cNvPr id="29" name="Picture 28" descr="Text&#10;&#10;Description automatically generated with medium confidence">
            <a:extLst>
              <a:ext uri="{FF2B5EF4-FFF2-40B4-BE49-F238E27FC236}">
                <a16:creationId xmlns:a16="http://schemas.microsoft.com/office/drawing/2014/main" id="{57BD58F0-D607-2471-467A-63F7401386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12606" y="218372"/>
            <a:ext cx="1655185" cy="59929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07727AA-4CF2-A497-8BD7-44680059B42B}"/>
              </a:ext>
            </a:extLst>
          </p:cNvPr>
          <p:cNvSpPr txBox="1"/>
          <p:nvPr userDrawn="1"/>
        </p:nvSpPr>
        <p:spPr>
          <a:xfrm>
            <a:off x="417385" y="6562593"/>
            <a:ext cx="47270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75000"/>
                  </a:schemeClr>
                </a:solidFill>
                <a:latin typeface="RadikalW03-Regular" panose="01000000000000000000" pitchFamily="2" charset="0"/>
              </a:rPr>
              <a:t>© 2025 Packaged Agile, LLC. Proprietary and Confidential. All Rights Reserved.</a:t>
            </a:r>
          </a:p>
        </p:txBody>
      </p:sp>
      <p:sp>
        <p:nvSpPr>
          <p:cNvPr id="32" name="Title 16">
            <a:extLst>
              <a:ext uri="{FF2B5EF4-FFF2-40B4-BE49-F238E27FC236}">
                <a16:creationId xmlns:a16="http://schemas.microsoft.com/office/drawing/2014/main" id="{1CA52022-D567-AFD6-0EFA-B19C9E6D4C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58" y="1015112"/>
            <a:ext cx="5275282" cy="1352168"/>
          </a:xfrm>
          <a:prstGeom prst="rect">
            <a:avLst/>
          </a:prstGeom>
        </p:spPr>
        <p:txBody>
          <a:bodyPr anchor="t">
            <a:noAutofit/>
          </a:bodyPr>
          <a:lstStyle>
            <a:lvl1pPr algn="ctr">
              <a:lnSpc>
                <a:spcPct val="110000"/>
              </a:lnSpc>
              <a:spcAft>
                <a:spcPts val="1800"/>
              </a:spcAft>
              <a:defRPr sz="3200" b="1">
                <a:solidFill>
                  <a:schemeClr val="tx1"/>
                </a:solidFill>
                <a:latin typeface="RadikalW03-Regular" panose="010000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8" name="Date Placeholder 34">
            <a:extLst>
              <a:ext uri="{FF2B5EF4-FFF2-40B4-BE49-F238E27FC236}">
                <a16:creationId xmlns:a16="http://schemas.microsoft.com/office/drawing/2014/main" id="{08D4368D-8B64-05AD-4468-7CFC8F6351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68719" y="6506031"/>
            <a:ext cx="2427561" cy="286563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rgbClr val="2B3990"/>
                </a:solidFill>
                <a:latin typeface="RadikalW03-Regular" panose="01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39" name="Slide Number Placeholder 1">
            <a:extLst>
              <a:ext uri="{FF2B5EF4-FFF2-40B4-BE49-F238E27FC236}">
                <a16:creationId xmlns:a16="http://schemas.microsoft.com/office/drawing/2014/main" id="{A9324EBB-C19D-1369-5D27-F22641E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24618" y="6506030"/>
            <a:ext cx="1638782" cy="246222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2B3990"/>
                </a:solidFill>
              </a:defRPr>
            </a:lvl1pPr>
          </a:lstStyle>
          <a:p>
            <a:r>
              <a:rPr lang="en-US">
                <a:latin typeface="RadikalW03-Regular" panose="01000000000000000000" pitchFamily="2" charset="0"/>
              </a:rPr>
              <a:t>Page </a:t>
            </a:r>
            <a:fld id="{66360215-CEF7-C448-B648-827E288A9E05}" type="slidenum">
              <a:rPr lang="en-US" smtClean="0">
                <a:latin typeface="RadikalW03-Regular" panose="01000000000000000000" pitchFamily="2" charset="0"/>
              </a:rPr>
              <a:pPr/>
              <a:t>‹#›</a:t>
            </a:fld>
            <a:endParaRPr lang="en-US">
              <a:latin typeface="RadikalW03-Regular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649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1A8E63B-375F-1227-DB48-23B588009F5A}"/>
              </a:ext>
            </a:extLst>
          </p:cNvPr>
          <p:cNvSpPr/>
          <p:nvPr/>
        </p:nvSpPr>
        <p:spPr>
          <a:xfrm>
            <a:off x="0" y="-1077"/>
            <a:ext cx="12192000" cy="109835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adikalW03-Regular" panose="01000000000000000000" pitchFamily="2" charset="0"/>
            </a:endParaRPr>
          </a:p>
        </p:txBody>
      </p:sp>
      <p:pic>
        <p:nvPicPr>
          <p:cNvPr id="10" name="Picture 9" descr="Text&#10;&#10;Description automatically generated with low confidence">
            <a:extLst>
              <a:ext uri="{FF2B5EF4-FFF2-40B4-BE49-F238E27FC236}">
                <a16:creationId xmlns:a16="http://schemas.microsoft.com/office/drawing/2014/main" id="{4462F54C-6409-EA59-9F61-A0888A5DB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836" y="240730"/>
            <a:ext cx="1644424" cy="5314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8CE27D-224D-B5AA-9868-35D33772F1FC}"/>
              </a:ext>
            </a:extLst>
          </p:cNvPr>
          <p:cNvSpPr txBox="1"/>
          <p:nvPr userDrawn="1"/>
        </p:nvSpPr>
        <p:spPr>
          <a:xfrm>
            <a:off x="417385" y="6572020"/>
            <a:ext cx="47270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75000"/>
                  </a:schemeClr>
                </a:solidFill>
                <a:latin typeface="RadikalW03-Regular" panose="01000000000000000000" pitchFamily="2" charset="0"/>
              </a:rPr>
              <a:t>© 2025 Packaged Agile, LLC. Proprietary and Confidential. All Rights Reserved.</a:t>
            </a:r>
          </a:p>
        </p:txBody>
      </p:sp>
      <p:sp>
        <p:nvSpPr>
          <p:cNvPr id="13" name="Title 16">
            <a:extLst>
              <a:ext uri="{FF2B5EF4-FFF2-40B4-BE49-F238E27FC236}">
                <a16:creationId xmlns:a16="http://schemas.microsoft.com/office/drawing/2014/main" id="{6C290852-139C-759D-0CE9-6168EAE90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9440" y="96076"/>
            <a:ext cx="8594255" cy="909764"/>
          </a:xfrm>
          <a:prstGeom prst="rect">
            <a:avLst/>
          </a:prstGeom>
        </p:spPr>
        <p:txBody>
          <a:bodyPr rIns="91440" anchor="ctr">
            <a:noAutofit/>
          </a:bodyPr>
          <a:lstStyle>
            <a:lvl1pPr algn="l">
              <a:lnSpc>
                <a:spcPct val="110000"/>
              </a:lnSpc>
              <a:spcAft>
                <a:spcPts val="1800"/>
              </a:spcAft>
              <a:defRPr sz="3200" b="1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4" name="Date Placeholder 34">
            <a:extLst>
              <a:ext uri="{FF2B5EF4-FFF2-40B4-BE49-F238E27FC236}">
                <a16:creationId xmlns:a16="http://schemas.microsoft.com/office/drawing/2014/main" id="{5765BF35-4ADF-0BC8-277A-F2448811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68719" y="6506031"/>
            <a:ext cx="2427561" cy="286563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RadikalW03-Regular" panose="01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2BA066DD-D494-7681-06A1-B1B6550C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24618" y="6506030"/>
            <a:ext cx="1638782" cy="246222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>
                <a:latin typeface="RadikalW03-Regular" panose="01000000000000000000" pitchFamily="2" charset="0"/>
              </a:rPr>
              <a:t>Page </a:t>
            </a:r>
            <a:fld id="{66360215-CEF7-C448-B648-827E288A9E05}" type="slidenum">
              <a:rPr lang="en-US" smtClean="0">
                <a:latin typeface="RadikalW03-Regular" panose="01000000000000000000" pitchFamily="2" charset="0"/>
              </a:rPr>
              <a:pPr/>
              <a:t>‹#›</a:t>
            </a:fld>
            <a:endParaRPr lang="en-US">
              <a:latin typeface="RadikalW03-Regular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08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08CE27D-224D-B5AA-9868-35D33772F1FC}"/>
              </a:ext>
            </a:extLst>
          </p:cNvPr>
          <p:cNvSpPr txBox="1"/>
          <p:nvPr userDrawn="1"/>
        </p:nvSpPr>
        <p:spPr>
          <a:xfrm>
            <a:off x="417385" y="6572020"/>
            <a:ext cx="47270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75000"/>
                  </a:schemeClr>
                </a:solidFill>
                <a:latin typeface="RadikalW03-Regular" panose="01000000000000000000" pitchFamily="2" charset="0"/>
              </a:rPr>
              <a:t>© 2025 Packaged Agile, LLC. Proprietary and Confidential. All Rights Reserved.</a:t>
            </a:r>
          </a:p>
        </p:txBody>
      </p:sp>
      <p:sp>
        <p:nvSpPr>
          <p:cNvPr id="13" name="Title 16">
            <a:extLst>
              <a:ext uri="{FF2B5EF4-FFF2-40B4-BE49-F238E27FC236}">
                <a16:creationId xmlns:a16="http://schemas.microsoft.com/office/drawing/2014/main" id="{6C290852-139C-759D-0CE9-6168EAE90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9440" y="96076"/>
            <a:ext cx="8594255" cy="909764"/>
          </a:xfrm>
          <a:prstGeom prst="rect">
            <a:avLst/>
          </a:prstGeom>
        </p:spPr>
        <p:txBody>
          <a:bodyPr rIns="91440" anchor="ctr">
            <a:noAutofit/>
          </a:bodyPr>
          <a:lstStyle>
            <a:lvl1pPr algn="l">
              <a:lnSpc>
                <a:spcPct val="110000"/>
              </a:lnSpc>
              <a:spcAft>
                <a:spcPts val="1800"/>
              </a:spcAft>
              <a:defRPr sz="3200" b="1">
                <a:solidFill>
                  <a:schemeClr val="tx1"/>
                </a:solidFill>
                <a:latin typeface="RadikalW03-Regular" panose="010000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4" name="Date Placeholder 34">
            <a:extLst>
              <a:ext uri="{FF2B5EF4-FFF2-40B4-BE49-F238E27FC236}">
                <a16:creationId xmlns:a16="http://schemas.microsoft.com/office/drawing/2014/main" id="{5765BF35-4ADF-0BC8-277A-F2448811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68719" y="6506031"/>
            <a:ext cx="2427561" cy="286563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RadikalW03-Regular" panose="01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2BA066DD-D494-7681-06A1-B1B6550C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24618" y="6506030"/>
            <a:ext cx="1638782" cy="246222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>
                <a:latin typeface="RadikalW03-Regular" panose="01000000000000000000" pitchFamily="2" charset="0"/>
              </a:rPr>
              <a:t>Page </a:t>
            </a:r>
            <a:fld id="{66360215-CEF7-C448-B648-827E288A9E05}" type="slidenum">
              <a:rPr lang="en-US" smtClean="0">
                <a:latin typeface="RadikalW03-Regular" panose="01000000000000000000" pitchFamily="2" charset="0"/>
              </a:rPr>
              <a:pPr/>
              <a:t>‹#›</a:t>
            </a:fld>
            <a:endParaRPr lang="en-US">
              <a:latin typeface="RadikalW03-Regular" panose="01000000000000000000" pitchFamily="2" charset="0"/>
            </a:endParaRPr>
          </a:p>
        </p:txBody>
      </p:sp>
      <p:pic>
        <p:nvPicPr>
          <p:cNvPr id="2" name="Picture 1" descr="Text&#10;&#10;Description automatically generated with medium confidence">
            <a:extLst>
              <a:ext uri="{FF2B5EF4-FFF2-40B4-BE49-F238E27FC236}">
                <a16:creationId xmlns:a16="http://schemas.microsoft.com/office/drawing/2014/main" id="{55341D88-EDE2-1549-2224-980EF37AE7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48320" y="219228"/>
            <a:ext cx="1645920" cy="5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320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nt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1A8E63B-375F-1227-DB48-23B588009F5A}"/>
              </a:ext>
            </a:extLst>
          </p:cNvPr>
          <p:cNvSpPr/>
          <p:nvPr/>
        </p:nvSpPr>
        <p:spPr>
          <a:xfrm>
            <a:off x="0" y="-1077"/>
            <a:ext cx="12192000" cy="109835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RadikalW03-Regular" panose="01000000000000000000" pitchFamily="2" charset="0"/>
            </a:endParaRPr>
          </a:p>
        </p:txBody>
      </p:sp>
      <p:pic>
        <p:nvPicPr>
          <p:cNvPr id="10" name="Picture 9" descr="Text&#10;&#10;Description automatically generated with low confidence">
            <a:extLst>
              <a:ext uri="{FF2B5EF4-FFF2-40B4-BE49-F238E27FC236}">
                <a16:creationId xmlns:a16="http://schemas.microsoft.com/office/drawing/2014/main" id="{4462F54C-6409-EA59-9F61-A0888A5DB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836" y="240730"/>
            <a:ext cx="1644424" cy="5314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8CE27D-224D-B5AA-9868-35D33772F1FC}"/>
              </a:ext>
            </a:extLst>
          </p:cNvPr>
          <p:cNvSpPr txBox="1"/>
          <p:nvPr userDrawn="1"/>
        </p:nvSpPr>
        <p:spPr>
          <a:xfrm>
            <a:off x="417385" y="6572020"/>
            <a:ext cx="47270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75000"/>
                  </a:schemeClr>
                </a:solidFill>
                <a:latin typeface="RadikalW03-Regular" panose="01000000000000000000" pitchFamily="2" charset="0"/>
              </a:rPr>
              <a:t>© 2025 Packaged Agile, LLC. Proprietary and Confidential. All Rights Reserved.</a:t>
            </a:r>
          </a:p>
        </p:txBody>
      </p:sp>
      <p:sp>
        <p:nvSpPr>
          <p:cNvPr id="13" name="Title 16">
            <a:extLst>
              <a:ext uri="{FF2B5EF4-FFF2-40B4-BE49-F238E27FC236}">
                <a16:creationId xmlns:a16="http://schemas.microsoft.com/office/drawing/2014/main" id="{6C290852-139C-759D-0CE9-6168EAE90A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4160" y="96076"/>
            <a:ext cx="7659535" cy="909764"/>
          </a:xfrm>
          <a:prstGeom prst="rect">
            <a:avLst/>
          </a:prstGeom>
        </p:spPr>
        <p:txBody>
          <a:bodyPr rIns="91440" anchor="ctr">
            <a:noAutofit/>
          </a:bodyPr>
          <a:lstStyle>
            <a:lvl1pPr algn="l">
              <a:lnSpc>
                <a:spcPct val="110000"/>
              </a:lnSpc>
              <a:spcAft>
                <a:spcPts val="1800"/>
              </a:spcAft>
              <a:defRPr sz="3200" b="1"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4" name="Date Placeholder 34">
            <a:extLst>
              <a:ext uri="{FF2B5EF4-FFF2-40B4-BE49-F238E27FC236}">
                <a16:creationId xmlns:a16="http://schemas.microsoft.com/office/drawing/2014/main" id="{5765BF35-4ADF-0BC8-277A-F2448811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68719" y="6506031"/>
            <a:ext cx="2427561" cy="286563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RadikalW03-Regular" panose="01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2BA066DD-D494-7681-06A1-B1B6550C2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24618" y="6506030"/>
            <a:ext cx="1638782" cy="246222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>
                <a:latin typeface="RadikalW03-Regular" panose="01000000000000000000" pitchFamily="2" charset="0"/>
              </a:rPr>
              <a:t>Page </a:t>
            </a:r>
            <a:fld id="{66360215-CEF7-C448-B648-827E288A9E05}" type="slidenum">
              <a:rPr lang="en-US" smtClean="0">
                <a:latin typeface="RadikalW03-Regular" panose="01000000000000000000" pitchFamily="2" charset="0"/>
              </a:rPr>
              <a:pPr/>
              <a:t>‹#›</a:t>
            </a:fld>
            <a:endParaRPr lang="en-US">
              <a:latin typeface="RadikalW03-Regular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1614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oose">
    <p:bg>
      <p:bgPr>
        <a:solidFill>
          <a:srgbClr val="008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1AD1D93-4F1C-8C26-F33C-A2E2532C56DF}"/>
              </a:ext>
            </a:extLst>
          </p:cNvPr>
          <p:cNvGrpSpPr/>
          <p:nvPr userDrawn="1"/>
        </p:nvGrpSpPr>
        <p:grpSpPr>
          <a:xfrm>
            <a:off x="6813375" y="3688343"/>
            <a:ext cx="4650658" cy="1351806"/>
            <a:chOff x="7010400" y="3429000"/>
            <a:chExt cx="4650658" cy="1351806"/>
          </a:xfrm>
        </p:grpSpPr>
        <p:sp>
          <p:nvSpPr>
            <p:cNvPr id="7" name="Text Placeholder 6">
              <a:extLst>
                <a:ext uri="{FF2B5EF4-FFF2-40B4-BE49-F238E27FC236}">
                  <a16:creationId xmlns:a16="http://schemas.microsoft.com/office/drawing/2014/main" id="{6F6F6D13-8A04-4E65-F0F0-F5EC6AA0D801}"/>
                </a:ext>
              </a:extLst>
            </p:cNvPr>
            <p:cNvSpPr txBox="1">
              <a:spLocks/>
            </p:cNvSpPr>
            <p:nvPr/>
          </p:nvSpPr>
          <p:spPr>
            <a:xfrm>
              <a:off x="8536698" y="3589378"/>
              <a:ext cx="3124360" cy="103105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0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9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1pPr>
              <a:lvl2pPr marL="457189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2pPr>
              <a:lvl3pPr marL="914377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3pPr>
              <a:lvl4pPr marL="1371566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4pPr>
              <a:lvl5pPr marL="1828754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1" i="0" u="none" strike="noStrike" kern="900" cap="none" spc="6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Brad Hunter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0" u="none" strike="noStrike" kern="900" cap="none" spc="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Principal &amp; Chief Operating Officer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0" u="none" strike="noStrike" kern="900" cap="none" spc="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brad.hunter@packagedagile.com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0" u="none" strike="noStrike" kern="900" cap="none" spc="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540-220-8138</a:t>
              </a:r>
            </a:p>
          </p:txBody>
        </p:sp>
        <p:pic>
          <p:nvPicPr>
            <p:cNvPr id="8" name="Picture Placeholder 33">
              <a:extLst>
                <a:ext uri="{FF2B5EF4-FFF2-40B4-BE49-F238E27FC236}">
                  <a16:creationId xmlns:a16="http://schemas.microsoft.com/office/drawing/2014/main" id="{AB4E6157-CD3D-9706-0ECD-D9BD3708BC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-1476"/>
            <a:stretch/>
          </p:blipFill>
          <p:spPr>
            <a:xfrm>
              <a:off x="7010400" y="3429000"/>
              <a:ext cx="1351806" cy="1351806"/>
            </a:xfrm>
            <a:prstGeom prst="ellipse">
              <a:avLst/>
            </a:prstGeom>
            <a:noFill/>
            <a:ln w="12700">
              <a:noFill/>
            </a:ln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40B396-C880-84B1-1A67-E0D7336A0B1D}"/>
              </a:ext>
            </a:extLst>
          </p:cNvPr>
          <p:cNvGrpSpPr/>
          <p:nvPr userDrawn="1"/>
        </p:nvGrpSpPr>
        <p:grpSpPr>
          <a:xfrm>
            <a:off x="842790" y="3688343"/>
            <a:ext cx="4535837" cy="1351806"/>
            <a:chOff x="1016000" y="3233077"/>
            <a:chExt cx="4535837" cy="1351806"/>
          </a:xfrm>
        </p:grpSpPr>
        <p:sp>
          <p:nvSpPr>
            <p:cNvPr id="11" name="Text Placeholder 6">
              <a:extLst>
                <a:ext uri="{FF2B5EF4-FFF2-40B4-BE49-F238E27FC236}">
                  <a16:creationId xmlns:a16="http://schemas.microsoft.com/office/drawing/2014/main" id="{8910F25C-7D9A-3926-A241-450BB0526BAE}"/>
                </a:ext>
              </a:extLst>
            </p:cNvPr>
            <p:cNvSpPr txBox="1">
              <a:spLocks/>
            </p:cNvSpPr>
            <p:nvPr/>
          </p:nvSpPr>
          <p:spPr>
            <a:xfrm>
              <a:off x="2542298" y="3393455"/>
              <a:ext cx="3009539" cy="103105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0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9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1pPr>
              <a:lvl2pPr marL="457189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2pPr>
              <a:lvl3pPr marL="914377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3pPr>
              <a:lvl4pPr marL="1371566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4pPr>
              <a:lvl5pPr marL="1828754" indent="0" algn="l" defTabSz="914377" rtl="0" eaLnBrk="1" latinLnBrk="0" hangingPunct="1">
                <a:lnSpc>
                  <a:spcPts val="1800"/>
                </a:lnSpc>
                <a:spcBef>
                  <a:spcPts val="5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defRPr sz="1400" b="0" i="0" kern="1200" spc="20" baseline="0">
                  <a:solidFill>
                    <a:schemeClr val="tx1"/>
                  </a:solidFill>
                  <a:latin typeface="Gibson" panose="02000000000000000000" pitchFamily="2" charset="77"/>
                  <a:ea typeface="+mn-ea"/>
                  <a:cs typeface="+mn-cs"/>
                </a:defRPr>
              </a:lvl5pPr>
              <a:lvl6pPr marL="2514537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726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914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103" indent="-228594" algn="l" defTabSz="914377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1" i="0" u="none" strike="noStrike" kern="900" cap="none" spc="6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Dave Witkin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0" u="none" strike="noStrike" kern="900" cap="none" spc="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Managing Principal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0" u="none" strike="noStrike" kern="900" cap="none" spc="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dave.witkin@packagedagile.com</a:t>
              </a:r>
            </a:p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b="0" i="0" u="none" strike="noStrike" kern="900" cap="none" spc="2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adikalW03-Regular" pitchFamily="2" charset="77"/>
                  <a:ea typeface="+mn-ea"/>
                  <a:cs typeface="+mn-cs"/>
                </a:rPr>
                <a:t>202-596-9050</a:t>
              </a:r>
            </a:p>
          </p:txBody>
        </p:sp>
        <p:pic>
          <p:nvPicPr>
            <p:cNvPr id="12" name="Picture Placeholder 33">
              <a:extLst>
                <a:ext uri="{FF2B5EF4-FFF2-40B4-BE49-F238E27FC236}">
                  <a16:creationId xmlns:a16="http://schemas.microsoft.com/office/drawing/2014/main" id="{66F17F50-A091-874E-E642-113F1A767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1016000" y="3233077"/>
              <a:ext cx="1351806" cy="1351806"/>
            </a:xfrm>
            <a:prstGeom prst="ellipse">
              <a:avLst/>
            </a:prstGeom>
            <a:noFill/>
            <a:ln w="12700">
              <a:noFill/>
            </a:ln>
          </p:spPr>
        </p:pic>
      </p:grpSp>
      <p:pic>
        <p:nvPicPr>
          <p:cNvPr id="13" name="Picture 12" descr="Text&#10;&#10;Description automatically generated with low confidence">
            <a:extLst>
              <a:ext uri="{FF2B5EF4-FFF2-40B4-BE49-F238E27FC236}">
                <a16:creationId xmlns:a16="http://schemas.microsoft.com/office/drawing/2014/main" id="{F9FB94F1-2D16-E6D5-D694-6571743325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14275" y="594077"/>
            <a:ext cx="4163451" cy="13455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AA6D0F-534E-70B1-485E-7CDBB047017D}"/>
              </a:ext>
            </a:extLst>
          </p:cNvPr>
          <p:cNvSpPr txBox="1"/>
          <p:nvPr userDrawn="1"/>
        </p:nvSpPr>
        <p:spPr>
          <a:xfrm>
            <a:off x="417385" y="6506030"/>
            <a:ext cx="2743200" cy="351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RadikalW03-Regular" pitchFamily="2" charset="77"/>
              </a:rPr>
              <a:t>© 2025, Packaged Agile, LLC. Proprietary and Confidential. All Rights Reserved.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04AA636E-6C7A-35B6-AB36-D18C6FC6D749}"/>
              </a:ext>
            </a:extLst>
          </p:cNvPr>
          <p:cNvSpPr txBox="1"/>
          <p:nvPr userDrawn="1"/>
        </p:nvSpPr>
        <p:spPr>
          <a:xfrm>
            <a:off x="3946797" y="6244421"/>
            <a:ext cx="43928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www.packagedagile.com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</a:rPr>
              <a:t>  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  <a:sym typeface="Wingdings" panose="05000000000000000000" pitchFamily="2" charset="2"/>
              </a:rPr>
              <a:t>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</a:rPr>
              <a:t>  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info@packagedagile.com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adikalW03-Regular" panose="01000000000000000000" pitchFamily="2" charset="0"/>
              <a:ea typeface="+mn-ea"/>
              <a:cs typeface="+mn-cs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</a:rPr>
              <a:t>161 Fort Evans Road, Suite 210, </a:t>
            </a:r>
            <a:r>
              <a:rPr lang="en-US" sz="1100">
                <a:solidFill>
                  <a:prstClr val="white"/>
                </a:solidFill>
                <a:latin typeface="RadikalW03-Regular" panose="01000000000000000000" pitchFamily="2" charset="0"/>
              </a:rPr>
              <a:t>Leesburg, VA 20176 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dikalW03-Regular" panose="01000000000000000000" pitchFamily="2" charset="0"/>
              <a:ea typeface="+mn-ea"/>
              <a:cs typeface="+mn-cs"/>
            </a:endParaRP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B9B16A7D-2DE0-E851-705B-30E8CD770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24618" y="6506030"/>
            <a:ext cx="1638782" cy="24622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en-US">
                <a:solidFill>
                  <a:schemeClr val="bg1"/>
                </a:solidFill>
                <a:latin typeface="RadikalW03-Regular" panose="01000000000000000000" pitchFamily="2" charset="0"/>
              </a:rPr>
              <a:t>Page </a:t>
            </a:r>
            <a:fld id="{66360215-CEF7-C448-B648-827E288A9E05}" type="slidenum">
              <a:rPr lang="en-US" smtClean="0">
                <a:solidFill>
                  <a:schemeClr val="bg1"/>
                </a:solidFill>
                <a:latin typeface="RadikalW03-Regular" panose="01000000000000000000" pitchFamily="2" charset="0"/>
              </a:rPr>
              <a:pPr/>
              <a:t>‹#›</a:t>
            </a:fld>
            <a:endParaRPr lang="en-US">
              <a:solidFill>
                <a:schemeClr val="bg1"/>
              </a:solidFill>
              <a:latin typeface="RadikalW03-Regular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50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oose Blank">
    <p:bg>
      <p:bgPr>
        <a:solidFill>
          <a:srgbClr val="008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F06A2B0C-34C1-3C72-3F94-82FB5091C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0200" y="6506030"/>
            <a:ext cx="2743200" cy="246222"/>
          </a:xfrm>
          <a:prstGeom prst="rect">
            <a:avLst/>
          </a:prstGeom>
        </p:spPr>
        <p:txBody>
          <a:bodyPr/>
          <a:lstStyle>
            <a:lvl1pPr algn="r">
              <a:defRPr sz="1000"/>
            </a:lvl1pPr>
          </a:lstStyle>
          <a:p>
            <a:r>
              <a:rPr lang="en-US">
                <a:solidFill>
                  <a:schemeClr val="bg1"/>
                </a:solidFill>
                <a:latin typeface="RadikalW03-Regular" panose="01000000000000000000" pitchFamily="2" charset="0"/>
              </a:rPr>
              <a:t>Page </a:t>
            </a:r>
            <a:fld id="{66360215-CEF7-C448-B648-827E288A9E05}" type="slidenum">
              <a:rPr lang="en-US" smtClean="0">
                <a:solidFill>
                  <a:schemeClr val="bg1"/>
                </a:solidFill>
                <a:latin typeface="RadikalW03-Regular" panose="01000000000000000000" pitchFamily="2" charset="0"/>
              </a:rPr>
              <a:pPr/>
              <a:t>‹#›</a:t>
            </a:fld>
            <a:endParaRPr lang="en-US">
              <a:solidFill>
                <a:schemeClr val="bg1"/>
              </a:solidFill>
              <a:latin typeface="RadikalW03-Regular" panose="01000000000000000000" pitchFamily="2" charset="0"/>
            </a:endParaRPr>
          </a:p>
        </p:txBody>
      </p:sp>
      <p:pic>
        <p:nvPicPr>
          <p:cNvPr id="13" name="Picture 12" descr="Text&#10;&#10;Description automatically generated with low confidence">
            <a:extLst>
              <a:ext uri="{FF2B5EF4-FFF2-40B4-BE49-F238E27FC236}">
                <a16:creationId xmlns:a16="http://schemas.microsoft.com/office/drawing/2014/main" id="{F9FB94F1-2D16-E6D5-D694-6571743325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14275" y="594077"/>
            <a:ext cx="4163451" cy="134550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AA6D0F-534E-70B1-485E-7CDBB047017D}"/>
              </a:ext>
            </a:extLst>
          </p:cNvPr>
          <p:cNvSpPr txBox="1"/>
          <p:nvPr userDrawn="1"/>
        </p:nvSpPr>
        <p:spPr>
          <a:xfrm>
            <a:off x="417385" y="6506030"/>
            <a:ext cx="2743200" cy="351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RadikalW03-Regular" pitchFamily="2" charset="77"/>
              </a:rPr>
              <a:t>© 2025, Packaged Agile, LLC. Proprietary and Confidential. All Rights Reserved.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04AA636E-6C7A-35B6-AB36-D18C6FC6D749}"/>
              </a:ext>
            </a:extLst>
          </p:cNvPr>
          <p:cNvSpPr txBox="1"/>
          <p:nvPr userDrawn="1"/>
        </p:nvSpPr>
        <p:spPr>
          <a:xfrm>
            <a:off x="3946797" y="6244421"/>
            <a:ext cx="439287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www.packagedagile.com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</a:rPr>
              <a:t>  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  <a:sym typeface="Wingdings" panose="05000000000000000000" pitchFamily="2" charset="2"/>
              </a:rPr>
              <a:t>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</a:rPr>
              <a:t>  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info@packagedagile.com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adikalW03-Regular" panose="01000000000000000000" pitchFamily="2" charset="0"/>
              <a:ea typeface="+mn-ea"/>
              <a:cs typeface="+mn-cs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adikalW03-Regular" panose="01000000000000000000" pitchFamily="2" charset="0"/>
                <a:ea typeface="+mn-ea"/>
                <a:cs typeface="+mn-cs"/>
              </a:rPr>
              <a:t>161 Fort Evans Road, Suite 210, </a:t>
            </a:r>
            <a:r>
              <a:rPr lang="en-US" sz="1100">
                <a:solidFill>
                  <a:prstClr val="white"/>
                </a:solidFill>
                <a:latin typeface="RadikalW03-Regular" panose="01000000000000000000" pitchFamily="2" charset="0"/>
              </a:rPr>
              <a:t>Leesburg, VA 20176 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adikalW03-Regular" panose="01000000000000000000" pitchFamily="2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8C34F-65FF-0CF9-DB85-AE8FDEC237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74800" y="2784475"/>
            <a:ext cx="9042400" cy="231616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  <a:latin typeface="RadikalW03-Regular" panose="01000000000000000000" pitchFamily="2" charset="0"/>
              </a:defRPr>
            </a:lvl1pPr>
            <a:lvl2pPr algn="ctr"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RadikalW03-Regular" panose="01000000000000000000" pitchFamily="2" charset="0"/>
              </a:defRPr>
            </a:lvl2pPr>
            <a:lvl3pPr algn="ctr"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RadikalW03-Regular" panose="01000000000000000000" pitchFamily="2" charset="0"/>
              </a:defRPr>
            </a:lvl3pPr>
            <a:lvl4pPr algn="ctr"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RadikalW03-Regular" panose="01000000000000000000" pitchFamily="2" charset="0"/>
              </a:defRPr>
            </a:lvl4pPr>
            <a:lvl5pPr algn="ctr">
              <a:lnSpc>
                <a:spcPct val="110000"/>
              </a:lnSpc>
              <a:spcBef>
                <a:spcPts val="0"/>
              </a:spcBef>
              <a:defRPr>
                <a:solidFill>
                  <a:schemeClr val="bg1"/>
                </a:solidFill>
                <a:latin typeface="RadikalW03-Regular" panose="01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322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7"/>
          <p:cNvSpPr txBox="1">
            <a:spLocks noGrp="1"/>
          </p:cNvSpPr>
          <p:nvPr>
            <p:ph type="sldNum" idx="12"/>
          </p:nvPr>
        </p:nvSpPr>
        <p:spPr>
          <a:xfrm>
            <a:off x="4724400" y="6467083"/>
            <a:ext cx="2743200" cy="390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>
                <a:latin typeface="RadikalW03-Regular" panose="01000000000000000000" pitchFamily="2" charset="0"/>
              </a:defRPr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7" name="Google Shape;27;p37"/>
          <p:cNvSpPr txBox="1">
            <a:spLocks noGrp="1"/>
          </p:cNvSpPr>
          <p:nvPr>
            <p:ph type="title"/>
          </p:nvPr>
        </p:nvSpPr>
        <p:spPr>
          <a:xfrm>
            <a:off x="518412" y="61412"/>
            <a:ext cx="11067973" cy="9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B3990"/>
              </a:buClr>
              <a:buSzPts val="3200"/>
              <a:buFont typeface="Arial"/>
              <a:buNone/>
              <a:defRPr sz="3200">
                <a:latin typeface="RadikalW03-Regular" panose="01000000000000000000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E1B99-1891-4F9B-9F2A-2E1AA55080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9113" y="1279525"/>
            <a:ext cx="11068050" cy="5103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5472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9768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8CD54663-6D75-1553-75FB-8DC965EB0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039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E441AC-5E2F-2714-7847-C4E3BF622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16284"/>
            <a:ext cx="10515600" cy="46606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770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RadikalW03-Regular" panose="01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RadikalW03-Regular" panose="01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RadikalW03-Regular" panose="01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RadikalW03-Regular" panose="01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RadikalW03-Regular" panose="01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RadikalW03-Regular" panose="01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18288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LaunchPad</a:t>
            </a:r>
            <a:endParaRPr lang="en-US" sz="3600" dirty="0">
              <a:latin typeface="RadikalW03-Regular" panose="01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440" y="731520"/>
            <a:ext cx="54385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BB8E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The single source for AI ideation and use-case management.</a:t>
            </a:r>
            <a:endParaRPr lang="en-US" sz="1467" dirty="0">
              <a:latin typeface="RadikalW03-Regular" panose="01000000000000000000" pitchFamily="2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853440" y="64008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© 2026 Packaged Agile, LLC. Proprietary and Confidential.</a:t>
            </a:r>
            <a:endParaRPr lang="en-US" sz="1067">
              <a:latin typeface="RadikalW03-Regular" panose="01000000000000000000" pitchFamily="2" charset="0"/>
            </a:endParaRPr>
          </a:p>
        </p:txBody>
      </p:sp>
      <p:sp>
        <p:nvSpPr>
          <p:cNvPr id="34" name="Text Placeholder 49">
            <a:extLst>
              <a:ext uri="{FF2B5EF4-FFF2-40B4-BE49-F238E27FC236}">
                <a16:creationId xmlns:a16="http://schemas.microsoft.com/office/drawing/2014/main" id="{72AC9E16-93DC-E796-E340-366438CA398B}"/>
              </a:ext>
            </a:extLst>
          </p:cNvPr>
          <p:cNvSpPr txBox="1">
            <a:spLocks/>
          </p:cNvSpPr>
          <p:nvPr/>
        </p:nvSpPr>
        <p:spPr>
          <a:xfrm>
            <a:off x="349138" y="2355692"/>
            <a:ext cx="3787433" cy="2239090"/>
          </a:xfrm>
          <a:prstGeom prst="rect">
            <a:avLst/>
          </a:prstGeom>
        </p:spPr>
        <p:txBody>
          <a:bodyPr wrap="square" lIns="54864" tIns="54864" rIns="54864" bIns="54864">
            <a:no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25000"/>
              <a:buFont typeface="Arial" panose="020B0604020202020204" pitchFamily="34" charset="0"/>
              <a:buNone/>
              <a:tabLst>
                <a:tab pos="223838" algn="l"/>
              </a:tabLst>
              <a:defRPr sz="1200" kern="1200" baseline="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54">
              <a:spcAft>
                <a:spcPts val="1000"/>
              </a:spcAft>
            </a:pPr>
            <a:r>
              <a:rPr lang="en-US" b="1" spc="200" dirty="0">
                <a:solidFill>
                  <a:srgbClr val="00A5E0"/>
                </a:solidFill>
                <a:sym typeface="Helvetica Light"/>
              </a:rPr>
              <a:t>Key Capabilities: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Guided AI-assisted intake that turns rough ideas into decision-ready use cases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AI coach that pressure-tests each idea and scores its readiness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Configurable fields with built-in responsible-AI risk questions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Reviewer pipeline with a request-info, edit-and-resubmit feedback loop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Decision Center to compare candidates and decide what to fund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Live status dashboard, plus PDF and work-tool exports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86730B7-60D5-BF41-1619-0C3B8667D4DB}"/>
              </a:ext>
            </a:extLst>
          </p:cNvPr>
          <p:cNvSpPr txBox="1">
            <a:spLocks/>
          </p:cNvSpPr>
          <p:nvPr/>
        </p:nvSpPr>
        <p:spPr>
          <a:xfrm>
            <a:off x="349138" y="1402080"/>
            <a:ext cx="11493723" cy="8937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5000"/>
              </a:lnSpc>
              <a:buNone/>
            </a:pPr>
            <a:r>
              <a:rPr lang="en-US" sz="1200" dirty="0"/>
              <a:t>LaunchPad runs the entire AI idea lifecycle in one place for everyone involved, not just the people who fund it. A submitter starts with the problem and turns it into a decision-ready use case, with a language model asking sharper questions as they go. Reviewers can see the entire pipeline and provide feedback in a tracked conversation. Leaders compare use cases side by side and decide what to fund.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EDB8BE-4960-798A-9895-D95B53720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715" y="2584347"/>
            <a:ext cx="7388146" cy="35279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18288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AI Assistant and Architecture</a:t>
            </a:r>
            <a:endParaRPr lang="en-US" sz="3600" dirty="0">
              <a:latin typeface="RadikalW03-Regular" panose="01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440" y="73152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8BB8E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AI-powered vetting turns rough ideas into qualified, decision-ready use cases</a:t>
            </a:r>
            <a:endParaRPr lang="en-US" sz="1467">
              <a:latin typeface="RadikalW03-Regular" panose="010000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-8629773" y="1400338"/>
            <a:ext cx="5486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chemeClr val="accent1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2267" dirty="0">
              <a:solidFill>
                <a:schemeClr val="accent1"/>
              </a:solidFill>
              <a:latin typeface="RadikalW03-Regular" panose="01000000000000000000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-8172573" y="2182368"/>
            <a:ext cx="54864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200" dirty="0">
                <a:latin typeface="RadikalW03-Regular" panose="01000000000000000000" pitchFamily="2" charset="0"/>
              </a:rPr>
              <a:t>At each step, the AI assistant pushes back on the submitter's answers, pointing out gaps and questioning weak assumptions. Once the answers hold up, one click turns them into a clean, submission-ready summary.</a:t>
            </a:r>
          </a:p>
        </p:txBody>
      </p:sp>
      <p:sp>
        <p:nvSpPr>
          <p:cNvPr id="7" name="Shape 5"/>
          <p:cNvSpPr/>
          <p:nvPr/>
        </p:nvSpPr>
        <p:spPr>
          <a:xfrm>
            <a:off x="445478" y="2876020"/>
            <a:ext cx="5486400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5478" y="2876020"/>
            <a:ext cx="73152" cy="914400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78" y="3022324"/>
            <a:ext cx="390144" cy="3901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59878" y="2973556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Mission &amp; Compliance Awareness</a:t>
            </a:r>
            <a:endParaRPr lang="en-US" sz="1600">
              <a:latin typeface="RadikalW03-Regular" panose="010000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359878" y="3324511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Vets ideas against federal constraints, FedRAMP, 508, and your agency's realities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45478" y="3887956"/>
            <a:ext cx="5486400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45478" y="3887956"/>
            <a:ext cx="73152" cy="914400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78" y="4034260"/>
            <a:ext cx="390144" cy="3901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59878" y="3985492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A1A2E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Structured Output</a:t>
            </a:r>
            <a:endParaRPr lang="en-US" sz="1600">
              <a:latin typeface="RadikalW03-Regular" panose="01000000000000000000" pitchFamily="2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1359878" y="4336447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Schema-validated responses keep summaries consistent and well-formatted</a:t>
            </a:r>
            <a:endParaRPr lang="en-US" sz="1200" dirty="0">
              <a:latin typeface="RadikalW03-Regular" panose="01000000000000000000" pitchFamily="2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45478" y="4899892"/>
            <a:ext cx="5486400" cy="9144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45478" y="4899892"/>
            <a:ext cx="73152" cy="914400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278" y="5046196"/>
            <a:ext cx="390144" cy="3901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59878" y="4997428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2E"/>
                </a:solidFill>
                <a:latin typeface="RadikalW03-Regular" panose="01000000000000000000" pitchFamily="2" charset="0"/>
              </a:rPr>
              <a:t>Inputs Preserved</a:t>
            </a:r>
            <a:endParaRPr lang="en-US" sz="1600" dirty="0">
              <a:latin typeface="RadikalW03-Regular" panose="01000000000000000000" pitchFamily="2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1359878" y="5264360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Raw inputs preserved alongside AI-polished summaries</a:t>
            </a:r>
            <a:endParaRPr lang="en-US" sz="1200" dirty="0">
              <a:latin typeface="RadikalW03-Regular" panose="01000000000000000000" pitchFamily="2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6705600" y="1262886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chemeClr val="accent1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2267" dirty="0">
              <a:solidFill>
                <a:schemeClr val="accent1"/>
              </a:solidFill>
              <a:latin typeface="RadikalW03-Regular" panose="01000000000000000000" pitchFamily="2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6608064" y="2007775"/>
            <a:ext cx="4876800" cy="755904"/>
          </a:xfrm>
          <a:prstGeom prst="rect">
            <a:avLst/>
          </a:prstGeom>
          <a:solidFill>
            <a:srgbClr val="003B6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6851904" y="2068735"/>
            <a:ext cx="4389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Next.js 14 + TypeScript</a:t>
            </a:r>
            <a:endParaRPr lang="en-US" sz="1533">
              <a:latin typeface="RadikalW03-Regular" panose="01000000000000000000" pitchFamily="2" charset="0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6851904" y="2410111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0E8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App Router, React Context</a:t>
            </a:r>
            <a:endParaRPr lang="en-US" sz="1200" dirty="0">
              <a:latin typeface="RadikalW03-Regular" panose="01000000000000000000" pitchFamily="2" charset="0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6608064" y="2885599"/>
            <a:ext cx="4876800" cy="755904"/>
          </a:xfrm>
          <a:prstGeom prst="rect">
            <a:avLst/>
          </a:prstGeom>
          <a:solidFill>
            <a:srgbClr val="1A5A9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6851904" y="2946559"/>
            <a:ext cx="4389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Tailwind CSS + shadcn/ui</a:t>
            </a:r>
            <a:endParaRPr lang="en-US" sz="1533">
              <a:latin typeface="RadikalW03-Regular" panose="01000000000000000000" pitchFamily="2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6851904" y="3287935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0E8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Custom-branded components</a:t>
            </a:r>
            <a:endParaRPr lang="en-US" sz="1200" dirty="0">
              <a:latin typeface="RadikalW03-Regular" panose="01000000000000000000" pitchFamily="2" charset="0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6608064" y="3763423"/>
            <a:ext cx="4876800" cy="755904"/>
          </a:xfrm>
          <a:prstGeom prst="rect">
            <a:avLst/>
          </a:prstGeom>
          <a:solidFill>
            <a:srgbClr val="0073C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6851904" y="3824383"/>
            <a:ext cx="4389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AI Integration Layer</a:t>
            </a:r>
            <a:endParaRPr lang="en-US" sz="1533">
              <a:latin typeface="RadikalW03-Regular" panose="01000000000000000000" pitchFamily="2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6851904" y="4165759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D0E8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Structured, validated responses from approved LLM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6608064" y="4641247"/>
            <a:ext cx="4876800" cy="755904"/>
          </a:xfrm>
          <a:prstGeom prst="rect">
            <a:avLst/>
          </a:prstGeom>
          <a:solidFill>
            <a:srgbClr val="2D8AC7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6851904" y="4702207"/>
            <a:ext cx="4389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LLM Engine</a:t>
            </a:r>
            <a:endParaRPr lang="en-US" sz="1533">
              <a:latin typeface="RadikalW03-Regular" panose="01000000000000000000" pitchFamily="2" charset="0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6851904" y="5043583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D0E8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Model agnostic. Adaptable to an approved endpoint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6608064" y="5519071"/>
            <a:ext cx="4876800" cy="755904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6" name="Text 31"/>
          <p:cNvSpPr/>
          <p:nvPr/>
        </p:nvSpPr>
        <p:spPr>
          <a:xfrm>
            <a:off x="6851904" y="5580031"/>
            <a:ext cx="4389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33" b="1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Flexible Deployment</a:t>
            </a:r>
            <a:endParaRPr lang="en-US" sz="1533">
              <a:latin typeface="RadikalW03-Regular" panose="01000000000000000000" pitchFamily="2" charset="0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6851904" y="5921407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D0E8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Containerized for on-prem, Cloud.gov, or GovCloud</a:t>
            </a:r>
            <a:endParaRPr lang="en-US" sz="1200">
              <a:latin typeface="RadikalW03-Regular" panose="01000000000000000000" pitchFamily="2" charset="0"/>
            </a:endParaRPr>
          </a:p>
        </p:txBody>
      </p:sp>
      <p:sp>
        <p:nvSpPr>
          <p:cNvPr id="42" name="Text 33"/>
          <p:cNvSpPr/>
          <p:nvPr/>
        </p:nvSpPr>
        <p:spPr>
          <a:xfrm>
            <a:off x="853440" y="64008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© 2026 Packaged Agile, LLC. Proprietary and Confidential.</a:t>
            </a:r>
            <a:endParaRPr lang="en-US" sz="1067">
              <a:latin typeface="RadikalW03-Regular" panose="01000000000000000000" pitchFamily="2" charset="0"/>
            </a:endParaRPr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041B8882-938C-2E7B-8F89-5E56B2BA96E9}"/>
              </a:ext>
            </a:extLst>
          </p:cNvPr>
          <p:cNvSpPr/>
          <p:nvPr/>
        </p:nvSpPr>
        <p:spPr>
          <a:xfrm>
            <a:off x="384518" y="1262886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chemeClr val="accent1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2267" dirty="0">
              <a:solidFill>
                <a:schemeClr val="accent1"/>
              </a:solidFill>
              <a:latin typeface="RadikalW03-Regular" panose="01000000000000000000" pitchFamily="2" charset="0"/>
            </a:endParaRPr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E89A0C93-003B-285D-C396-7F1949C4C74B}"/>
              </a:ext>
            </a:extLst>
          </p:cNvPr>
          <p:cNvSpPr/>
          <p:nvPr/>
        </p:nvSpPr>
        <p:spPr>
          <a:xfrm>
            <a:off x="384518" y="1666399"/>
            <a:ext cx="524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200" dirty="0">
                <a:latin typeface="RadikalW03-Regular" panose="01000000000000000000" pitchFamily="2" charset="0"/>
              </a:rPr>
              <a:t>At each step, the AI assistant pushes back on the submitter's answers, pointing out gaps and questioning weak assumptions. Once the answers hold up, one click turns them into a clean, submission-ready summary.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E7E35-8E56-73C0-1D46-61489ECB0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ED0DE6F-0BAA-42DC-E8DA-D6AB7EEAC481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A24D5C-8A6E-37EC-1420-AE60EC5FA770}"/>
              </a:ext>
            </a:extLst>
          </p:cNvPr>
          <p:cNvSpPr/>
          <p:nvPr/>
        </p:nvSpPr>
        <p:spPr>
          <a:xfrm>
            <a:off x="853440" y="18288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Guided Submission Workflow</a:t>
            </a:r>
            <a:endParaRPr lang="en-US" sz="3600" dirty="0">
              <a:latin typeface="RadikalW03-Regular" panose="01000000000000000000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D44BDE-8F39-4EC9-0B49-50DA615C5A3D}"/>
              </a:ext>
            </a:extLst>
          </p:cNvPr>
          <p:cNvSpPr/>
          <p:nvPr/>
        </p:nvSpPr>
        <p:spPr>
          <a:xfrm>
            <a:off x="853440" y="73152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BB8E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 guided, plain-language workflow that turns raw AI ideas into decision-ready use cases</a:t>
            </a:r>
            <a:endParaRPr lang="en-US" sz="1467" dirty="0">
              <a:latin typeface="RadikalW03-Regular" panose="01000000000000000000" pitchFamily="2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E14D48-CD31-50DF-89E6-2B646877DFE2}"/>
              </a:ext>
            </a:extLst>
          </p:cNvPr>
          <p:cNvSpPr/>
          <p:nvPr/>
        </p:nvSpPr>
        <p:spPr>
          <a:xfrm>
            <a:off x="384518" y="1262886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chemeClr val="accent1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From Rough Idea to Business Case</a:t>
            </a:r>
            <a:endParaRPr lang="en-US" sz="2267" dirty="0">
              <a:solidFill>
                <a:schemeClr val="accent1"/>
              </a:solidFill>
              <a:latin typeface="RadikalW03-Regular" panose="01000000000000000000" pitchFamily="2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2F0D7A7-DA07-CE33-C268-9093642AAC6A}"/>
              </a:ext>
            </a:extLst>
          </p:cNvPr>
          <p:cNvSpPr/>
          <p:nvPr/>
        </p:nvSpPr>
        <p:spPr>
          <a:xfrm>
            <a:off x="384518" y="1875539"/>
            <a:ext cx="524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RadikalW03-Regular" panose="01000000000000000000" pitchFamily="2" charset="0"/>
              </a:rPr>
              <a:t>LaunchPad walks every submitter through the idea one step at a time, forcing clarity on the problem, the users, the solution, its value, alignment, feasibility, and how success gets measured. The fields aren't fixed: admins turn nearly 50 of them on or off, so the form can run lean as a quick intake or deep as a full business case, depending on what your governance needs.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99BC715-508F-14D7-B7AE-0AFB4A005C76}"/>
              </a:ext>
            </a:extLst>
          </p:cNvPr>
          <p:cNvSpPr/>
          <p:nvPr/>
        </p:nvSpPr>
        <p:spPr>
          <a:xfrm>
            <a:off x="384518" y="3474720"/>
            <a:ext cx="670560" cy="414528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97B83D8-3364-2B03-152D-DB2F6A96B756}"/>
              </a:ext>
            </a:extLst>
          </p:cNvPr>
          <p:cNvSpPr/>
          <p:nvPr/>
        </p:nvSpPr>
        <p:spPr>
          <a:xfrm>
            <a:off x="384518" y="3474720"/>
            <a:ext cx="670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E49F37F-58A2-1B80-6F88-D6E3AD0C381D}"/>
              </a:ext>
            </a:extLst>
          </p:cNvPr>
          <p:cNvSpPr/>
          <p:nvPr/>
        </p:nvSpPr>
        <p:spPr>
          <a:xfrm>
            <a:off x="1055078" y="3474720"/>
            <a:ext cx="4328160" cy="4145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7232736-98B6-BFB3-8ADA-89A2BD612760}"/>
              </a:ext>
            </a:extLst>
          </p:cNvPr>
          <p:cNvSpPr/>
          <p:nvPr/>
        </p:nvSpPr>
        <p:spPr>
          <a:xfrm>
            <a:off x="1298918" y="3474720"/>
            <a:ext cx="43281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Submitter info (auto-filled)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ECBC465-8DAE-919E-EEBF-8E5372798C9D}"/>
              </a:ext>
            </a:extLst>
          </p:cNvPr>
          <p:cNvSpPr/>
          <p:nvPr/>
        </p:nvSpPr>
        <p:spPr>
          <a:xfrm>
            <a:off x="384518" y="3950208"/>
            <a:ext cx="670560" cy="414528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8E17FB0-93B6-4621-B81D-94DD14391563}"/>
              </a:ext>
            </a:extLst>
          </p:cNvPr>
          <p:cNvSpPr/>
          <p:nvPr/>
        </p:nvSpPr>
        <p:spPr>
          <a:xfrm>
            <a:off x="384518" y="3950208"/>
            <a:ext cx="670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AF09723-2B21-62F7-A5F6-140A397DBA2E}"/>
              </a:ext>
            </a:extLst>
          </p:cNvPr>
          <p:cNvSpPr/>
          <p:nvPr/>
        </p:nvSpPr>
        <p:spPr>
          <a:xfrm>
            <a:off x="1055078" y="3950208"/>
            <a:ext cx="4328160" cy="4145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E3CF12A-EFC1-2A0E-D8F5-CE497644B42C}"/>
              </a:ext>
            </a:extLst>
          </p:cNvPr>
          <p:cNvSpPr/>
          <p:nvPr/>
        </p:nvSpPr>
        <p:spPr>
          <a:xfrm>
            <a:off x="1298918" y="3950208"/>
            <a:ext cx="43281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Problem &amp; target users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8382E29-B6F6-8DFF-2AD4-EB0A3D22259C}"/>
              </a:ext>
            </a:extLst>
          </p:cNvPr>
          <p:cNvSpPr/>
          <p:nvPr/>
        </p:nvSpPr>
        <p:spPr>
          <a:xfrm>
            <a:off x="384518" y="4425696"/>
            <a:ext cx="670560" cy="414528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9D568A5-258C-5D56-64CD-E5FBFE6009A9}"/>
              </a:ext>
            </a:extLst>
          </p:cNvPr>
          <p:cNvSpPr/>
          <p:nvPr/>
        </p:nvSpPr>
        <p:spPr>
          <a:xfrm>
            <a:off x="384518" y="4425696"/>
            <a:ext cx="670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83B45FD-259A-625A-18FC-CA5D99BE6C7D}"/>
              </a:ext>
            </a:extLst>
          </p:cNvPr>
          <p:cNvSpPr/>
          <p:nvPr/>
        </p:nvSpPr>
        <p:spPr>
          <a:xfrm>
            <a:off x="1055078" y="4425696"/>
            <a:ext cx="4328160" cy="4145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F55A95F-FFA5-7A78-B7CD-C729E362AC3E}"/>
              </a:ext>
            </a:extLst>
          </p:cNvPr>
          <p:cNvSpPr/>
          <p:nvPr/>
        </p:nvSpPr>
        <p:spPr>
          <a:xfrm>
            <a:off x="1298918" y="4425696"/>
            <a:ext cx="43281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Solution, user, &amp; business value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1D9F9A0-FACF-A75C-30FB-9AFDB8762AD5}"/>
              </a:ext>
            </a:extLst>
          </p:cNvPr>
          <p:cNvSpPr/>
          <p:nvPr/>
        </p:nvSpPr>
        <p:spPr>
          <a:xfrm>
            <a:off x="384518" y="4901184"/>
            <a:ext cx="670560" cy="414528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BC291DC-DA1C-A4BC-5911-9B72E717A03E}"/>
              </a:ext>
            </a:extLst>
          </p:cNvPr>
          <p:cNvSpPr/>
          <p:nvPr/>
        </p:nvSpPr>
        <p:spPr>
          <a:xfrm>
            <a:off x="384518" y="4901184"/>
            <a:ext cx="670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DF05FE4-C0CA-5834-E413-51D815DF8367}"/>
              </a:ext>
            </a:extLst>
          </p:cNvPr>
          <p:cNvSpPr/>
          <p:nvPr/>
        </p:nvSpPr>
        <p:spPr>
          <a:xfrm>
            <a:off x="1055078" y="4901184"/>
            <a:ext cx="4328160" cy="4145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11DD781-D577-61B9-E8DE-010021B861CA}"/>
              </a:ext>
            </a:extLst>
          </p:cNvPr>
          <p:cNvSpPr/>
          <p:nvPr/>
        </p:nvSpPr>
        <p:spPr>
          <a:xfrm>
            <a:off x="1298918" y="4901184"/>
            <a:ext cx="43281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Governance, alignment, feasibility, &amp; responsible AI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A3F934A-A589-22A6-857F-5D7B676BCFFE}"/>
              </a:ext>
            </a:extLst>
          </p:cNvPr>
          <p:cNvSpPr/>
          <p:nvPr/>
        </p:nvSpPr>
        <p:spPr>
          <a:xfrm>
            <a:off x="384518" y="5376672"/>
            <a:ext cx="670560" cy="414528"/>
          </a:xfrm>
          <a:prstGeom prst="rect">
            <a:avLst/>
          </a:prstGeom>
          <a:solidFill>
            <a:srgbClr val="0073C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94BB52A-859A-B051-8FCB-E66771486CF7}"/>
              </a:ext>
            </a:extLst>
          </p:cNvPr>
          <p:cNvSpPr/>
          <p:nvPr/>
        </p:nvSpPr>
        <p:spPr>
          <a:xfrm>
            <a:off x="384518" y="5376672"/>
            <a:ext cx="6705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EC58A09-3979-5EEA-48D2-FE3274C21AC9}"/>
              </a:ext>
            </a:extLst>
          </p:cNvPr>
          <p:cNvSpPr/>
          <p:nvPr/>
        </p:nvSpPr>
        <p:spPr>
          <a:xfrm>
            <a:off x="1055078" y="5376672"/>
            <a:ext cx="4328160" cy="414528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AD5E00F-1777-2F43-7B9C-64556A75C3DA}"/>
              </a:ext>
            </a:extLst>
          </p:cNvPr>
          <p:cNvSpPr/>
          <p:nvPr/>
        </p:nvSpPr>
        <p:spPr>
          <a:xfrm>
            <a:off x="1298918" y="5376672"/>
            <a:ext cx="432816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1A1A2E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AI-drafted overview, readiness check, &amp; submission</a:t>
            </a:r>
            <a:endParaRPr lang="en-US" sz="1333" dirty="0">
              <a:latin typeface="RadikalW03-Regular" panose="01000000000000000000" pitchFamily="2" charset="0"/>
            </a:endParaRPr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4B2944A9-8F70-7F42-F8B6-DDE85CCDD1C7}"/>
              </a:ext>
            </a:extLst>
          </p:cNvPr>
          <p:cNvSpPr/>
          <p:nvPr/>
        </p:nvSpPr>
        <p:spPr>
          <a:xfrm>
            <a:off x="853440" y="64008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© 2026 Packaged Agile, LLC. Proprietary and Confidential.</a:t>
            </a:r>
            <a:endParaRPr lang="en-US" sz="1067">
              <a:latin typeface="RadikalW03-Regular" panose="01000000000000000000" pitchFamily="2" charset="0"/>
            </a:endParaRPr>
          </a:p>
        </p:txBody>
      </p:sp>
      <p:pic>
        <p:nvPicPr>
          <p:cNvPr id="43" name="Picture 42" descr="slide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483" y="1934556"/>
            <a:ext cx="6095999" cy="40313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28526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3440" y="18288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Pipeline Dashboard</a:t>
            </a:r>
            <a:endParaRPr lang="en-US" sz="3600" dirty="0">
              <a:latin typeface="RadikalW03-Regular" panose="01000000000000000000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440" y="73152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>
                <a:solidFill>
                  <a:srgbClr val="8BB8E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Real-time visibility into the idea pipeline, from draft through approval</a:t>
            </a:r>
            <a:endParaRPr lang="en-US" sz="1467">
              <a:latin typeface="RadikalW03-Regular" panose="01000000000000000000" pitchFamily="2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670558" y="64008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© 2026 Packaged Agile, LLC. Proprietary and Confidential.</a:t>
            </a:r>
            <a:endParaRPr lang="en-US" sz="1067">
              <a:latin typeface="RadikalW03-Regular" panose="01000000000000000000" pitchFamily="2" charset="0"/>
            </a:endParaRPr>
          </a:p>
        </p:txBody>
      </p:sp>
      <p:pic>
        <p:nvPicPr>
          <p:cNvPr id="33" name="Picture 32" descr="slide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12" y="1524000"/>
            <a:ext cx="7346694" cy="4572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6" name="Text 4">
            <a:extLst>
              <a:ext uri="{FF2B5EF4-FFF2-40B4-BE49-F238E27FC236}">
                <a16:creationId xmlns:a16="http://schemas.microsoft.com/office/drawing/2014/main" id="{6FF93361-0B24-F229-E906-F3250D7BDE0F}"/>
              </a:ext>
            </a:extLst>
          </p:cNvPr>
          <p:cNvSpPr/>
          <p:nvPr/>
        </p:nvSpPr>
        <p:spPr>
          <a:xfrm>
            <a:off x="8334446" y="3517838"/>
            <a:ext cx="34508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latin typeface="RadikalW03-Regular" panose="01000000000000000000" pitchFamily="2" charset="0"/>
              </a:rPr>
              <a:t>Reviewers and leaders see the whole portfolio in one place. Every idea moves through clear stages, from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RadikalW03-Regular" panose="01000000000000000000" pitchFamily="2" charset="0"/>
              </a:rPr>
              <a:t>submitted</a:t>
            </a:r>
            <a:r>
              <a:rPr lang="en-US" sz="1600" dirty="0">
                <a:latin typeface="RadikalW03-Regular" panose="01000000000000000000" pitchFamily="2" charset="0"/>
              </a:rPr>
              <a:t> to </a:t>
            </a:r>
            <a:r>
              <a:rPr lang="en-US" sz="1600" dirty="0">
                <a:solidFill>
                  <a:schemeClr val="accent2"/>
                </a:solidFill>
                <a:latin typeface="RadikalW03-Regular" panose="01000000000000000000" pitchFamily="2" charset="0"/>
              </a:rPr>
              <a:t>in review</a:t>
            </a:r>
            <a:r>
              <a:rPr lang="en-US" sz="1600" dirty="0">
                <a:latin typeface="RadikalW03-Regular" panose="01000000000000000000" pitchFamily="2" charset="0"/>
              </a:rPr>
              <a:t>, </a:t>
            </a:r>
            <a:r>
              <a:rPr lang="en-US" sz="1600" dirty="0">
                <a:solidFill>
                  <a:schemeClr val="accent5"/>
                </a:solidFill>
                <a:latin typeface="RadikalW03-Regular" panose="01000000000000000000" pitchFamily="2" charset="0"/>
              </a:rPr>
              <a:t>needs info</a:t>
            </a:r>
            <a:r>
              <a:rPr lang="en-US" sz="1600" dirty="0">
                <a:latin typeface="RadikalW03-Regular" panose="01000000000000000000" pitchFamily="2" charset="0"/>
              </a:rPr>
              <a:t>, </a:t>
            </a:r>
            <a:r>
              <a:rPr lang="en-US" sz="1600" dirty="0">
                <a:solidFill>
                  <a:schemeClr val="accent6"/>
                </a:solidFill>
                <a:latin typeface="RadikalW03-Regular" panose="01000000000000000000" pitchFamily="2" charset="0"/>
              </a:rPr>
              <a:t>approved</a:t>
            </a:r>
            <a:r>
              <a:rPr lang="en-US" sz="1600" dirty="0">
                <a:latin typeface="RadikalW03-Regular" panose="01000000000000000000" pitchFamily="2" charset="0"/>
              </a:rPr>
              <a:t>, or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RadikalW03-Regular" panose="01000000000000000000" pitchFamily="2" charset="0"/>
              </a:rPr>
              <a:t>rejected</a:t>
            </a:r>
            <a:r>
              <a:rPr lang="en-US" sz="1600" dirty="0">
                <a:latin typeface="RadikalW03-Regular" panose="01000000000000000000" pitchFamily="2" charset="0"/>
              </a:rPr>
              <a:t>, and each one routes to the reviewer for its business unit. Filters narrow the board by unit or assignee, and a color-coded readiness mark shows which ideas are ready for a decision.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8101FC3-01DA-766F-4DC9-D482284B73BA}"/>
              </a:ext>
            </a:extLst>
          </p:cNvPr>
          <p:cNvSpPr/>
          <p:nvPr/>
        </p:nvSpPr>
        <p:spPr>
          <a:xfrm>
            <a:off x="8334446" y="1645920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chemeClr val="accent1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The Whole Portfolio in</a:t>
            </a:r>
          </a:p>
          <a:p>
            <a:r>
              <a:rPr lang="en-US" sz="2267" b="1" dirty="0">
                <a:solidFill>
                  <a:schemeClr val="accent1"/>
                </a:solidFill>
                <a:latin typeface="RadikalW03-Regular" panose="01000000000000000000" pitchFamily="2" charset="0"/>
              </a:rPr>
              <a:t>One View</a:t>
            </a:r>
            <a:endParaRPr lang="en-US" sz="2267" dirty="0">
              <a:solidFill>
                <a:schemeClr val="accent1"/>
              </a:solidFill>
              <a:latin typeface="RadikalW03-Regular" panose="01000000000000000000" pitchFamily="2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97DA8-1861-5AEC-C022-6E9C7A3F5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B8D6E9-A11C-4C91-F4EA-5EDB641FFB85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A552C2-7FD2-A0A5-F21A-3B965D929D71}"/>
              </a:ext>
            </a:extLst>
          </p:cNvPr>
          <p:cNvSpPr/>
          <p:nvPr/>
        </p:nvSpPr>
        <p:spPr>
          <a:xfrm>
            <a:off x="853440" y="18288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Decision Center</a:t>
            </a:r>
            <a:endParaRPr lang="en-US" sz="3600" dirty="0">
              <a:latin typeface="RadikalW03-Regular" panose="01000000000000000000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70F53C-8059-4D8E-A6F0-EE7C5F40C283}"/>
              </a:ext>
            </a:extLst>
          </p:cNvPr>
          <p:cNvSpPr/>
          <p:nvPr/>
        </p:nvSpPr>
        <p:spPr>
          <a:xfrm>
            <a:off x="853440" y="73152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BB8E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Compare use case submissions side by side and decide what to fund</a:t>
            </a:r>
            <a:endParaRPr lang="en-US" sz="1467" dirty="0">
              <a:latin typeface="RadikalW03-Regular" panose="01000000000000000000" pitchFamily="2" charset="0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9A0E7F98-0A52-06C9-5009-97065987AF57}"/>
              </a:ext>
            </a:extLst>
          </p:cNvPr>
          <p:cNvSpPr/>
          <p:nvPr/>
        </p:nvSpPr>
        <p:spPr>
          <a:xfrm>
            <a:off x="670558" y="64008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© 2026 Packaged Agile, LLC. Proprietary and Confidential.</a:t>
            </a:r>
            <a:endParaRPr lang="en-US" sz="1067">
              <a:latin typeface="RadikalW03-Regular" panose="01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B8E87F-29FD-369E-3002-5D73DA701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441" y="1932990"/>
            <a:ext cx="8061041" cy="39363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ABF43509-B890-BFB1-35C4-A0B61362CBD3}"/>
              </a:ext>
            </a:extLst>
          </p:cNvPr>
          <p:cNvSpPr/>
          <p:nvPr/>
        </p:nvSpPr>
        <p:spPr>
          <a:xfrm>
            <a:off x="445165" y="4534989"/>
            <a:ext cx="3012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002060"/>
                </a:solidFill>
                <a:latin typeface="RadikalW03-Regular" panose="01000000000000000000" pitchFamily="2" charset="0"/>
              </a:rPr>
              <a:t>Leadership gets a clear funding recommendation, with the full comparison behind it.</a:t>
            </a:r>
            <a:endParaRPr lang="en-US" sz="2000" b="1" dirty="0">
              <a:solidFill>
                <a:srgbClr val="002060"/>
              </a:solidFill>
              <a:latin typeface="RadikalW03-Regular" panose="01000000000000000000" pitchFamily="2" charset="0"/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B52432FE-953F-8764-B930-BEA22C0E531B}"/>
              </a:ext>
            </a:extLst>
          </p:cNvPr>
          <p:cNvSpPr/>
          <p:nvPr/>
        </p:nvSpPr>
        <p:spPr>
          <a:xfrm>
            <a:off x="384518" y="1378131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chemeClr val="accent1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2267" dirty="0">
              <a:solidFill>
                <a:schemeClr val="accent1"/>
              </a:solidFill>
              <a:latin typeface="RadikalW03-Regular" panose="01000000000000000000" pitchFamily="2" charset="0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2C49516D-D48E-BE98-E3B2-21822B4D3FD6}"/>
              </a:ext>
            </a:extLst>
          </p:cNvPr>
          <p:cNvSpPr/>
          <p:nvPr/>
        </p:nvSpPr>
        <p:spPr>
          <a:xfrm>
            <a:off x="323870" y="2443842"/>
            <a:ext cx="313429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defTabSz="914377">
              <a:lnSpc>
                <a:spcPct val="150000"/>
              </a:lnSpc>
              <a:spcAft>
                <a:spcPts val="300"/>
              </a:spcAft>
              <a:buClr>
                <a:schemeClr val="accent1"/>
              </a:buClr>
              <a:buSzPct val="125000"/>
              <a:buFont typeface="+mj-lt"/>
              <a:buAutoNum type="arabicPeriod"/>
              <a:tabLst>
                <a:tab pos="223838" algn="l"/>
              </a:tabLst>
            </a:pPr>
            <a:r>
              <a:rPr lang="en-US" kern="1200" dirty="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rPr>
              <a:t>Select 2-4 candidates from the pipeline</a:t>
            </a:r>
          </a:p>
          <a:p>
            <a:pPr marL="342900" indent="-342900" defTabSz="914377">
              <a:lnSpc>
                <a:spcPct val="150000"/>
              </a:lnSpc>
              <a:spcAft>
                <a:spcPts val="300"/>
              </a:spcAft>
              <a:buClr>
                <a:schemeClr val="accent1"/>
              </a:buClr>
              <a:buSzPct val="125000"/>
              <a:buFont typeface="+mj-lt"/>
              <a:buAutoNum type="arabicPeriod"/>
              <a:tabLst>
                <a:tab pos="223838" algn="l"/>
              </a:tabLst>
            </a:pPr>
            <a:r>
              <a:rPr lang="en-US" kern="1200" dirty="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rPr>
              <a:t>Compare side-by-side, across every dimension</a:t>
            </a:r>
          </a:p>
          <a:p>
            <a:pPr marL="342900" indent="-342900" defTabSz="914377">
              <a:lnSpc>
                <a:spcPct val="150000"/>
              </a:lnSpc>
              <a:spcAft>
                <a:spcPts val="300"/>
              </a:spcAft>
              <a:buClr>
                <a:schemeClr val="accent1"/>
              </a:buClr>
              <a:buSzPct val="125000"/>
              <a:buFont typeface="+mj-lt"/>
              <a:buAutoNum type="arabicPeriod"/>
              <a:tabLst>
                <a:tab pos="223838" algn="l"/>
              </a:tabLst>
            </a:pPr>
            <a:r>
              <a:rPr lang="en-US" kern="1200" dirty="0">
                <a:solidFill>
                  <a:schemeClr val="tx1"/>
                </a:solidFill>
                <a:latin typeface="RadikalW03-Regular" panose="01000000000000000000" pitchFamily="2" charset="0"/>
                <a:ea typeface="+mn-ea"/>
                <a:cs typeface="+mn-cs"/>
              </a:rPr>
              <a:t>Get a recommendation with a verdict and a gap for each</a:t>
            </a:r>
          </a:p>
        </p:txBody>
      </p:sp>
    </p:spTree>
    <p:extLst>
      <p:ext uri="{BB962C8B-B14F-4D97-AF65-F5344CB8AC3E}">
        <p14:creationId xmlns:p14="http://schemas.microsoft.com/office/powerpoint/2010/main" val="390960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B8D6E9-A11C-4C91-F4EA-5EDB641FFB85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US" sz="1867">
              <a:latin typeface="RadikalW03-Regular" panose="01000000000000000000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A552C2-7FD2-A0A5-F21A-3B965D929D71}"/>
              </a:ext>
            </a:extLst>
          </p:cNvPr>
          <p:cNvSpPr/>
          <p:nvPr/>
        </p:nvSpPr>
        <p:spPr>
          <a:xfrm>
            <a:off x="853440" y="182880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RadikalW03-Regular" panose="01000000000000000000" pitchFamily="2" charset="0"/>
                <a:ea typeface="Trebuchet MS" pitchFamily="34" charset="-122"/>
                <a:cs typeface="Trebuchet MS" pitchFamily="34" charset="-120"/>
              </a:rPr>
              <a:t>Designed for Federal AI Governance</a:t>
            </a:r>
            <a:endParaRPr lang="en-US" sz="3600" dirty="0">
              <a:latin typeface="RadikalW03-Regular" panose="01000000000000000000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A70F53C-8059-4D8E-A6F0-EE7C5F40C283}"/>
              </a:ext>
            </a:extLst>
          </p:cNvPr>
          <p:cNvSpPr/>
          <p:nvPr/>
        </p:nvSpPr>
        <p:spPr>
          <a:xfrm>
            <a:off x="853440" y="731520"/>
            <a:ext cx="975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BB8E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How LaunchPad is built to support the mandates agencies answer for</a:t>
            </a:r>
            <a:endParaRPr lang="en-US" sz="1467" dirty="0">
              <a:latin typeface="RadikalW03-Regular" panose="01000000000000000000" pitchFamily="2" charset="0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9A0E7F98-0A52-06C9-5009-97065987AF57}"/>
              </a:ext>
            </a:extLst>
          </p:cNvPr>
          <p:cNvSpPr/>
          <p:nvPr/>
        </p:nvSpPr>
        <p:spPr>
          <a:xfrm>
            <a:off x="670558" y="6400800"/>
            <a:ext cx="609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4A5568"/>
                </a:solidFill>
                <a:latin typeface="RadikalW03-Regular" panose="01000000000000000000" pitchFamily="2" charset="0"/>
                <a:ea typeface="Calibri" pitchFamily="34" charset="-122"/>
                <a:cs typeface="Calibri" pitchFamily="34" charset="-120"/>
              </a:rPr>
              <a:t>© 2026 Packaged Agile, LLC. Proprietary and Confidential.</a:t>
            </a:r>
            <a:endParaRPr lang="en-US" sz="1067">
              <a:latin typeface="RadikalW03-Regular" panose="01000000000000000000" pitchFamily="2" charset="0"/>
            </a:endParaRPr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248464"/>
              </p:ext>
            </p:extLst>
          </p:nvPr>
        </p:nvGraphicFramePr>
        <p:xfrm>
          <a:off x="384048" y="1481328"/>
          <a:ext cx="11420856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4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RadikalW03-Regular"/>
                        </a:rPr>
                        <a:t>Federal requirement</a:t>
                      </a:r>
                    </a:p>
                  </a:txBody>
                  <a:tcPr marL="128016" marR="128016" anchor="ctr">
                    <a:solidFill>
                      <a:srgbClr val="003B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i="0" dirty="0">
                          <a:solidFill>
                            <a:srgbClr val="FFFFFF"/>
                          </a:solidFill>
                          <a:latin typeface="RadikalW03-Regular"/>
                        </a:rPr>
                        <a:t>How LaunchPad is designed to help</a:t>
                      </a:r>
                    </a:p>
                  </a:txBody>
                  <a:tcPr marL="128016" marR="128016" anchor="ctr">
                    <a:solidFill>
                      <a:srgbClr val="003B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B3A6F"/>
                          </a:solidFill>
                          <a:latin typeface="RadikalW03-Regular"/>
                        </a:rPr>
                        <a:t>Annual public AI use-case inventory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1050" b="0" i="0">
                          <a:solidFill>
                            <a:srgbClr val="64748B"/>
                          </a:solidFill>
                          <a:latin typeface="RadikalW03-Regular"/>
                        </a:rPr>
                        <a:t>Advancing American AI Act    |    OMB M-25-21</a:t>
                      </a:r>
                    </a:p>
                  </a:txBody>
                  <a:tcPr marL="128016" marR="128016"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dirty="0">
                          <a:solidFill>
                            <a:srgbClr val="334155"/>
                          </a:solidFill>
                          <a:latin typeface="RadikalW03-Regular"/>
                        </a:rPr>
                        <a:t>Acts as a</a:t>
                      </a:r>
                      <a:r>
                        <a:rPr lang="en-US" sz="1400" b="0" i="0" dirty="0">
                          <a:solidFill>
                            <a:srgbClr val="334155"/>
                          </a:solidFill>
                          <a:latin typeface="RadikalW03-Regular"/>
                        </a:rPr>
                        <a:t> live inventory for AI use cases</a:t>
                      </a:r>
                      <a:r>
                        <a:rPr sz="1400" b="0" i="0" dirty="0">
                          <a:solidFill>
                            <a:srgbClr val="334155"/>
                          </a:solidFill>
                          <a:latin typeface="RadikalW03-Regular"/>
                        </a:rPr>
                        <a:t>. A single front door captures use cases as they arise</a:t>
                      </a:r>
                      <a:r>
                        <a:rPr lang="en-US" sz="1400" b="0" i="0" dirty="0">
                          <a:solidFill>
                            <a:srgbClr val="334155"/>
                          </a:solidFill>
                          <a:latin typeface="RadikalW03-Regular"/>
                        </a:rPr>
                        <a:t> </a:t>
                      </a:r>
                      <a:r>
                        <a:rPr sz="1400" b="0" i="0" dirty="0">
                          <a:solidFill>
                            <a:srgbClr val="334155"/>
                          </a:solidFill>
                          <a:latin typeface="RadikalW03-Regular"/>
                        </a:rPr>
                        <a:t>and keeps them inventory-ready.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B3A6F"/>
                          </a:solidFill>
                          <a:latin typeface="RadikalW03-Regular"/>
                        </a:rPr>
                        <a:t>Minimum risk practices for high-impact AI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1050" b="0" i="0">
                          <a:solidFill>
                            <a:srgbClr val="64748B"/>
                          </a:solidFill>
                          <a:latin typeface="RadikalW03-Regular"/>
                        </a:rPr>
                        <a:t>OMB M-25-21</a:t>
                      </a:r>
                    </a:p>
                  </a:txBody>
                  <a:tcPr marL="128016" marR="128016"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dirty="0">
                          <a:solidFill>
                            <a:srgbClr val="334155"/>
                          </a:solidFill>
                          <a:latin typeface="RadikalW03-Regular"/>
                        </a:rPr>
                        <a:t>Captures impact level and risk at intake. High-impact cases are flagged for added review before they can advance.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0B3A6F"/>
                          </a:solidFill>
                          <a:latin typeface="RadikalW03-Regular"/>
                        </a:rPr>
                        <a:t>CAIO oversight and documented decisions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1050" b="0" i="0">
                          <a:solidFill>
                            <a:srgbClr val="64748B"/>
                          </a:solidFill>
                          <a:latin typeface="RadikalW03-Regular"/>
                        </a:rPr>
                        <a:t>OMB M-25-21</a:t>
                      </a:r>
                    </a:p>
                  </a:txBody>
                  <a:tcPr marL="128016" marR="128016"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RadikalW03-Regular"/>
                        </a:rPr>
                        <a:t>Gives reviewers one board to record fund, conditions, or hold decisions with the reasoning attached.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600" b="1" i="0" dirty="0">
                          <a:solidFill>
                            <a:srgbClr val="0B3A6F"/>
                          </a:solidFill>
                          <a:latin typeface="RadikalW03-Regular"/>
                        </a:rPr>
                        <a:t>AI </a:t>
                      </a:r>
                      <a:r>
                        <a:rPr lang="en-US" sz="1600" b="1" i="0" dirty="0">
                          <a:solidFill>
                            <a:srgbClr val="0B3A6F"/>
                          </a:solidFill>
                          <a:latin typeface="RadikalW03-Regular"/>
                        </a:rPr>
                        <a:t>R</a:t>
                      </a:r>
                      <a:r>
                        <a:rPr sz="1600" b="1" i="0" dirty="0">
                          <a:solidFill>
                            <a:srgbClr val="0B3A6F"/>
                          </a:solidFill>
                          <a:latin typeface="RadikalW03-Regular"/>
                        </a:rPr>
                        <a:t>isk </a:t>
                      </a:r>
                      <a:r>
                        <a:rPr lang="en-US" sz="1600" b="1" i="0" dirty="0">
                          <a:solidFill>
                            <a:srgbClr val="0B3A6F"/>
                          </a:solidFill>
                          <a:latin typeface="RadikalW03-Regular"/>
                        </a:rPr>
                        <a:t>M</a:t>
                      </a:r>
                      <a:r>
                        <a:rPr sz="1600" b="1" i="0" dirty="0">
                          <a:solidFill>
                            <a:srgbClr val="0B3A6F"/>
                          </a:solidFill>
                          <a:latin typeface="RadikalW03-Regular"/>
                        </a:rPr>
                        <a:t>anagement </a:t>
                      </a:r>
                      <a:r>
                        <a:rPr lang="en-US" sz="1600" b="1" i="0" dirty="0">
                          <a:solidFill>
                            <a:srgbClr val="0B3A6F"/>
                          </a:solidFill>
                          <a:latin typeface="RadikalW03-Regular"/>
                        </a:rPr>
                        <a:t>F</a:t>
                      </a:r>
                      <a:r>
                        <a:rPr sz="1600" b="1" i="0" dirty="0">
                          <a:solidFill>
                            <a:srgbClr val="0B3A6F"/>
                          </a:solidFill>
                          <a:latin typeface="RadikalW03-Regular"/>
                        </a:rPr>
                        <a:t>ramework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1050" b="0" i="0" dirty="0">
                          <a:solidFill>
                            <a:srgbClr val="64748B"/>
                          </a:solidFill>
                          <a:latin typeface="RadikalW03-Regular"/>
                        </a:rPr>
                        <a:t>NIST AI RMF 1.0    |    Govern and Map</a:t>
                      </a:r>
                    </a:p>
                  </a:txBody>
                  <a:tcPr marL="128016" marR="128016"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334155"/>
                          </a:solidFill>
                          <a:latin typeface="RadikalW03-Regular"/>
                        </a:rPr>
                        <a:t>Structures intake around the Govern and Map functions and builds a documented decision trail. Measure and Manage, the ongoing monitoring, sit in other systems.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600" b="1" i="0" dirty="0">
                          <a:solidFill>
                            <a:srgbClr val="0B3A6F"/>
                          </a:solidFill>
                          <a:latin typeface="RadikalW03-Regular"/>
                        </a:rPr>
                        <a:t>Security authorization and accessibility</a:t>
                      </a:r>
                    </a:p>
                    <a:p>
                      <a:pPr>
                        <a:spcBef>
                          <a:spcPts val="200"/>
                        </a:spcBef>
                      </a:pPr>
                      <a:r>
                        <a:rPr sz="1050" b="0" i="0" dirty="0">
                          <a:solidFill>
                            <a:srgbClr val="64748B"/>
                          </a:solidFill>
                          <a:latin typeface="RadikalW03-Regular"/>
                        </a:rPr>
                        <a:t>NIST SP 800-53    |    Section 508</a:t>
                      </a:r>
                    </a:p>
                  </a:txBody>
                  <a:tcPr marL="128016" marR="128016" anchor="ctr"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 dirty="0">
                          <a:solidFill>
                            <a:srgbClr val="334155"/>
                          </a:solidFill>
                          <a:latin typeface="RadikalW03-Regular"/>
                        </a:rPr>
                        <a:t>Designed to produce the risk documentation that supports an ATO. Section 508 accessibility is a design goal, not yet independently tested.</a:t>
                      </a:r>
                    </a:p>
                  </a:txBody>
                  <a:tcPr marL="128016" marR="12801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84048" y="6035040"/>
            <a:ext cx="1142085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0" i="1">
                <a:solidFill>
                  <a:srgbClr val="707C8C"/>
                </a:solidFill>
                <a:latin typeface="RadikalW03-Regular"/>
              </a:rPr>
              <a:t>LaunchPad is a working prototype. These points describe how it is designed to support each requirement. They are not certifications and have not been independently validated or authorized in production.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05840" y="2331720"/>
            <a:ext cx="64008" cy="1920240"/>
          </a:xfrm>
          <a:prstGeom prst="rect">
            <a:avLst/>
          </a:prstGeom>
          <a:solidFill>
            <a:srgbClr val="00A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22860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8BB8E8"/>
                </a:solidFill>
                <a:latin typeface="RadikalW03-Regular"/>
              </a:rPr>
              <a:t>FOR MORE INFORMATION, 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74320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RadikalW03-Regular"/>
              </a:rPr>
              <a:t>Matt Shankle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61188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8BB8E8"/>
                </a:solidFill>
                <a:latin typeface="RadikalW03-Regular"/>
              </a:rPr>
              <a:t>Director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41605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RadikalW03-Regular"/>
              </a:rPr>
              <a:t>703-431-2878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45262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RadikalW03-Regular"/>
              </a:rPr>
              <a:t>matt.shankle@packagedagile.com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5989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adikalW03-Regular"/>
              </a:rPr>
              <a:t>Results Delivered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632764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BB8E8"/>
                </a:solidFill>
                <a:latin typeface="RadikalW03-Regular"/>
              </a:rPr>
              <a:t>www.packagedagile.com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ckaged Agile Color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86CA"/>
      </a:accent1>
      <a:accent2>
        <a:srgbClr val="E5A213"/>
      </a:accent2>
      <a:accent3>
        <a:srgbClr val="F16224"/>
      </a:accent3>
      <a:accent4>
        <a:srgbClr val="503991"/>
      </a:accent4>
      <a:accent5>
        <a:srgbClr val="B40D18"/>
      </a:accent5>
      <a:accent6>
        <a:srgbClr val="539A3D"/>
      </a:accent6>
      <a:hlink>
        <a:srgbClr val="3FACE2"/>
      </a:hlink>
      <a:folHlink>
        <a:srgbClr val="986498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>
          <a:noFill/>
        </a:ln>
      </a:spPr>
      <a:bodyPr rtlCol="0" anchor="t"/>
      <a:lstStyle>
        <a:defPPr algn="ctr">
          <a:lnSpc>
            <a:spcPct val="110000"/>
          </a:lnSpc>
          <a:spcAft>
            <a:spcPts val="600"/>
          </a:spcAft>
          <a:defRPr dirty="0" smtClean="0">
            <a:solidFill>
              <a:sysClr val="windowText" lastClr="000000"/>
            </a:solidFill>
            <a:latin typeface="RadikalW03-Regular" panose="01000000000000000000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spcAft>
            <a:spcPts val="1200"/>
          </a:spcAft>
          <a:defRPr dirty="0" smtClean="0">
            <a:latin typeface="RadikalW03-Regular" panose="01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A PowerPoint Template 2024-10-17" id="{E5BC60F3-1986-4FC7-828E-4FD8CB99CCC4}" vid="{2EC86B04-880B-4058-8CA4-226125F58B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C8A76A8FEFC6468ACB89D6098A9F50" ma:contentTypeVersion="20" ma:contentTypeDescription="Create a new document." ma:contentTypeScope="" ma:versionID="5ed35611633ce1614d6cfc157583a616">
  <xsd:schema xmlns:xsd="http://www.w3.org/2001/XMLSchema" xmlns:xs="http://www.w3.org/2001/XMLSchema" xmlns:p="http://schemas.microsoft.com/office/2006/metadata/properties" xmlns:ns2="264239c7-dff5-4dbc-89c5-0622eff42a63" xmlns:ns3="b3abc1ba-4317-4f6b-9823-27b7f84e4470" targetNamespace="http://schemas.microsoft.com/office/2006/metadata/properties" ma:root="true" ma:fieldsID="0b82cf627c5169d5feba29cbf982983f" ns2:_="" ns3:_="">
    <xsd:import namespace="264239c7-dff5-4dbc-89c5-0622eff42a63"/>
    <xsd:import namespace="b3abc1ba-4317-4f6b-9823-27b7f84e44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c0209077bfde4f4890e9716ca0fc2b6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4239c7-dff5-4dbc-89c5-0622eff42a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4174dce-25f2-4145-bcbe-984449fda2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c0209077bfde4f4890e9716ca0fc2b6e" ma:index="21" nillable="true" ma:taxonomy="true" ma:internalName="c0209077bfde4f4890e9716ca0fc2b6e" ma:taxonomyFieldName="Document_x0020_Tag" ma:displayName="Status Tag" ma:default="" ma:fieldId="{c0209077-bfde-4f48-90e9-716ca0fc2b6e}" ma:sspId="e4174dce-25f2-4145-bcbe-984449fda253" ma:termSetId="8ed8c9ea-7052-4c1d-a4d7-b9c10bffea6f" ma:anchorId="e772c4cd-bd3b-46f7-b4d7-e0a67eb0252d" ma:open="true" ma:isKeyword="false">
      <xsd:complexType>
        <xsd:sequence>
          <xsd:element ref="pc:Terms" minOccurs="0" maxOccurs="1"/>
        </xsd:sequence>
      </xsd:complex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abc1ba-4317-4f6b-9823-27b7f84e447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6706216-35a2-4817-a4f1-5405cbd831d9}" ma:internalName="TaxCatchAll" ma:showField="CatchAllData" ma:web="b3abc1ba-4317-4f6b-9823-27b7f84e44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4239c7-dff5-4dbc-89c5-0622eff42a63">
      <Terms xmlns="http://schemas.microsoft.com/office/infopath/2007/PartnerControls"/>
    </lcf76f155ced4ddcb4097134ff3c332f>
    <TaxCatchAll xmlns="b3abc1ba-4317-4f6b-9823-27b7f84e4470" xsi:nil="true"/>
    <c0209077bfde4f4890e9716ca0fc2b6e xmlns="264239c7-dff5-4dbc-89c5-0622eff42a63">
      <Terms xmlns="http://schemas.microsoft.com/office/infopath/2007/PartnerControls"/>
    </c0209077bfde4f4890e9716ca0fc2b6e>
  </documentManagement>
</p:properties>
</file>

<file path=customXml/itemProps1.xml><?xml version="1.0" encoding="utf-8"?>
<ds:datastoreItem xmlns:ds="http://schemas.openxmlformats.org/officeDocument/2006/customXml" ds:itemID="{E2A3C319-3245-4727-A5EC-91F2AA50EE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63CFD6-D7DC-45D1-8D93-0E1FDA83FF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4239c7-dff5-4dbc-89c5-0622eff42a63"/>
    <ds:schemaRef ds:uri="b3abc1ba-4317-4f6b-9823-27b7f84e44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F578FEA-68E2-4565-B05C-D8C02AD69070}">
  <ds:schemaRefs>
    <ds:schemaRef ds:uri="264239c7-dff5-4dbc-89c5-0622eff42a63"/>
    <ds:schemaRef ds:uri="b3abc1ba-4317-4f6b-9823-27b7f84e447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928</Words>
  <Application>Microsoft Office PowerPoint</Application>
  <PresentationFormat>Widescreen</PresentationFormat>
  <Paragraphs>97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Helvetica Light</vt:lpstr>
      <vt:lpstr>RadikalW03-Regular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Witkin</dc:creator>
  <cp:lastModifiedBy>Matt Shankle</cp:lastModifiedBy>
  <cp:revision>6</cp:revision>
  <dcterms:created xsi:type="dcterms:W3CDTF">2022-02-19T17:28:00Z</dcterms:created>
  <dcterms:modified xsi:type="dcterms:W3CDTF">2026-06-09T21:20:19Z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0x0101005FC8A76A8FEFC6468ACB89D6098A9F50</vt:lpwstr>
  </property>
  <property fmtid="{D5CDD505-2E9C-101B-9397-08002B2CF9AE}" pid="3" name="Order">
    <vt:r8>24466800</vt:r8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Document_x0020_Tag">
    <vt:lpwstr/>
  </property>
  <property fmtid="{D5CDD505-2E9C-101B-9397-08002B2CF9AE}" pid="8" name="MediaServiceImageTags">
    <vt:lpwstr/>
  </property>
  <property fmtid="{D5CDD505-2E9C-101B-9397-08002B2CF9AE}" pid="9" name="Document Tag">
    <vt:lpwstr/>
  </property>
</Properties>
</file>