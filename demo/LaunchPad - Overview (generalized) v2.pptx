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146848334" r:id="rId6"/>
    <p:sldId id="258" r:id="rId7"/>
    <p:sldId id="259" r:id="rId8"/>
    <p:sldId id="2146848335" r:id="rId19"/>
    <p:sldId id="260" r:id="rId9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AEE0EDF-383B-44AF-9129-2879A91ABAD5}">
          <p14:sldIdLst>
            <p14:sldId id="257"/>
            <p14:sldId id="2146848334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072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gWjmh0+iogvtzdMzIKP9zrLAoQv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ad Hunter" initials="" lastIdx="6" clrIdx="0"/>
  <p:cmAuthor id="1" name="Brad Hunter" initials="BH" lastIdx="3" clrIdx="1">
    <p:extLst>
      <p:ext uri="{19B8F6BF-5375-455C-9EA6-DF929625EA0E}">
        <p15:presenceInfo xmlns:p15="http://schemas.microsoft.com/office/powerpoint/2012/main" userId="S::brad.hunter@packagedagile.com::702da67d-1178-488f-bb36-616516c1b7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8FF"/>
    <a:srgbClr val="FFFFFF"/>
    <a:srgbClr val="DBEED5"/>
    <a:srgbClr val="0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B1919-0990-4EFA-8FA3-ABC87FBCE184}" v="1" dt="2026-04-17T15:21:06.806"/>
  </p1510:revLst>
</p1510:revInfo>
</file>

<file path=ppt/tableStyles.xml><?xml version="1.0" encoding="utf-8"?>
<a:tblStyleLst xmlns:a="http://schemas.openxmlformats.org/drawingml/2006/main" def="{62BC4DC9-6357-4CBD-B6E6-9500A85C5769}">
  <a:tblStyle styleId="{62BC4DC9-6357-4CBD-B6E6-9500A85C576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20" y="84"/>
      </p:cViewPr>
      <p:guideLst>
        <p:guide orient="horz"/>
        <p:guide pos="6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9" Type="http://schemas.openxmlformats.org/officeDocument/2006/relationships/slide" Target="slides/slide5.xml"/><Relationship Id="rId62" Type="http://customschemas.google.com/relationships/presentationmetadata" Target="metadata"/><Relationship Id="rId63" Type="http://schemas.openxmlformats.org/officeDocument/2006/relationships/commentAuthors" Target="commentAuthors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0F18F-75C5-1441-F268-0EDD0BE3C5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61F95-5CF1-BC7D-A084-8D58834869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D35E0-41AF-4C24-9EDA-3073C1A9F7E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CD7BA-1EC3-0B51-4D3E-4B1099BBDC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2025 Packaged Agile, LLC Proprietary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F6CCC-D8AC-9A2D-B64C-8347E48822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EA75C-C822-4CD3-8A91-092760ED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59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1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81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2025 Packaged Agile, LLC Proprietary and Confidential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81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b" anchorCtr="0">
            <a:noAutofit/>
          </a:bodyPr>
          <a:lstStyle/>
          <a:p>
            <a:pPr algn="r">
              <a:buSzPts val="13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300"/>
              </a:pPr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1AE3-4DA7-96A4-78F0-749DF5EF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34E46-E343-AABC-55EF-003672476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21AEC-B167-446D-3845-CA2D59B0F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924D5-5BB1-A9EC-9F34-E0847805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67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1.png"/><Relationship Id="rId5" Type="http://schemas.openxmlformats.org/officeDocument/2006/relationships/hyperlink" Target="http://www.packagedagile.com/" TargetMode="External"/><Relationship Id="rId6" Type="http://schemas.openxmlformats.org/officeDocument/2006/relationships/hyperlink" Target="mailto:info@packagedagile.com" TargetMode="Externa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packagedagile.com/" TargetMode="External"/><Relationship Id="rId4" Type="http://schemas.openxmlformats.org/officeDocument/2006/relationships/hyperlink" Target="mailto:info@packagedagile.com" TargetMode="Externa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B1F2C9-7D8B-E853-59DC-D211A73B583A}"/>
              </a:ext>
            </a:extLst>
          </p:cNvPr>
          <p:cNvSpPr txBox="1"/>
          <p:nvPr userDrawn="1"/>
        </p:nvSpPr>
        <p:spPr>
          <a:xfrm>
            <a:off x="417385" y="6506031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 Packaged Agile, LLC. Proprietary and Confidential. All Rights Reserved.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38D97BBA-F3BF-3FDD-EE35-70DB7BD9A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57" y="361631"/>
            <a:ext cx="2420550" cy="782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74D8D-9340-F276-7C59-D2D5625F56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9283" y="0"/>
            <a:ext cx="7062717" cy="68580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CEC48ADF-6A98-702E-3CE1-B4340C9C4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56" y="1472312"/>
            <a:ext cx="4539304" cy="1880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Aft>
                <a:spcPts val="1800"/>
              </a:spcAft>
              <a:defRPr sz="3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90BED17B-AB5F-91C6-0736-6C3C4A70017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0356" y="5378943"/>
            <a:ext cx="2519997" cy="436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1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ABB762-CD80-E248-CD0F-E7C30AFF22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98" y="3710469"/>
            <a:ext cx="4538662" cy="1173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7523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B1F2C9-7D8B-E853-59DC-D211A73B583A}"/>
              </a:ext>
            </a:extLst>
          </p:cNvPr>
          <p:cNvSpPr txBox="1"/>
          <p:nvPr userDrawn="1"/>
        </p:nvSpPr>
        <p:spPr>
          <a:xfrm>
            <a:off x="417385" y="6562593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 Packaged Agile, LLC. Proprietary and Confidential. All Rights Reserved.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38D97BBA-F3BF-3FDD-EE35-70DB7BD9A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57" y="361631"/>
            <a:ext cx="2420550" cy="78225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AE48F-ADC4-2D84-53C9-9B27BC74A2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27638" y="0"/>
            <a:ext cx="696436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6">
            <a:extLst>
              <a:ext uri="{FF2B5EF4-FFF2-40B4-BE49-F238E27FC236}">
                <a16:creationId xmlns:a16="http://schemas.microsoft.com/office/drawing/2014/main" id="{80CBB885-A82A-4159-E18C-CA1D341CC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56" y="1472312"/>
            <a:ext cx="4539304" cy="1880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Aft>
                <a:spcPts val="1800"/>
              </a:spcAft>
              <a:defRPr sz="3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36F13EC9-712E-4027-F012-1EB64C97F5B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0356" y="5378943"/>
            <a:ext cx="2519997" cy="436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1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60E57810-3993-54A6-4271-FADB4984FD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98" y="3710469"/>
            <a:ext cx="4538662" cy="1173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3781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011AE8-2D97-90BD-D00B-2A342C9C6FE8}"/>
              </a:ext>
            </a:extLst>
          </p:cNvPr>
          <p:cNvSpPr/>
          <p:nvPr userDrawn="1"/>
        </p:nvSpPr>
        <p:spPr>
          <a:xfrm>
            <a:off x="5904089" y="0"/>
            <a:ext cx="62879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5F17B-16C9-752D-983E-1AC46FF1EA33}"/>
              </a:ext>
            </a:extLst>
          </p:cNvPr>
          <p:cNvSpPr txBox="1"/>
          <p:nvPr userDrawn="1"/>
        </p:nvSpPr>
        <p:spPr>
          <a:xfrm>
            <a:off x="417385" y="6506031"/>
            <a:ext cx="41644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anose="01000000000000000000" pitchFamily="2" charset="0"/>
              </a:rPr>
              <a:t>Copyright © 2025 Packaged Agile, LLC. All Rights Reserved.</a:t>
            </a:r>
          </a:p>
        </p:txBody>
      </p:sp>
      <p:pic>
        <p:nvPicPr>
          <p:cNvPr id="29" name="Picture 28" descr="Text&#10;&#10;Description automatically generated with medium confidence">
            <a:extLst>
              <a:ext uri="{FF2B5EF4-FFF2-40B4-BE49-F238E27FC236}">
                <a16:creationId xmlns:a16="http://schemas.microsoft.com/office/drawing/2014/main" id="{57BD58F0-D607-2471-467A-63F7401386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2606" y="218372"/>
            <a:ext cx="1655185" cy="5992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7727AA-4CF2-A497-8BD7-44680059B42B}"/>
              </a:ext>
            </a:extLst>
          </p:cNvPr>
          <p:cNvSpPr txBox="1"/>
          <p:nvPr userDrawn="1"/>
        </p:nvSpPr>
        <p:spPr>
          <a:xfrm>
            <a:off x="417385" y="6562593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32" name="Title 16">
            <a:extLst>
              <a:ext uri="{FF2B5EF4-FFF2-40B4-BE49-F238E27FC236}">
                <a16:creationId xmlns:a16="http://schemas.microsoft.com/office/drawing/2014/main" id="{1CA52022-D567-AFD6-0EFA-B19C9E6D4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58" y="1015112"/>
            <a:ext cx="5275282" cy="135216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tx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8" name="Date Placeholder 34">
            <a:extLst>
              <a:ext uri="{FF2B5EF4-FFF2-40B4-BE49-F238E27FC236}">
                <a16:creationId xmlns:a16="http://schemas.microsoft.com/office/drawing/2014/main" id="{08D4368D-8B64-05AD-4468-7CFC8F63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rgbClr val="2B3990"/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9" name="Slide Number Placeholder 1">
            <a:extLst>
              <a:ext uri="{FF2B5EF4-FFF2-40B4-BE49-F238E27FC236}">
                <a16:creationId xmlns:a16="http://schemas.microsoft.com/office/drawing/2014/main" id="{A9324EBB-C19D-1369-5D27-F22641E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B3990"/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4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8E63B-375F-1227-DB48-23B588009F5A}"/>
              </a:ext>
            </a:extLst>
          </p:cNvPr>
          <p:cNvSpPr/>
          <p:nvPr/>
        </p:nvSpPr>
        <p:spPr>
          <a:xfrm>
            <a:off x="0" y="-1077"/>
            <a:ext cx="12192000" cy="109835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4462F54C-6409-EA59-9F61-A0888A5D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36" y="240730"/>
            <a:ext cx="1644424" cy="531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440" y="96076"/>
            <a:ext cx="859425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8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440" y="96076"/>
            <a:ext cx="859425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tx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2" name="Picture 1" descr="Text&#10;&#10;Description automatically generated with medium confidence">
            <a:extLst>
              <a:ext uri="{FF2B5EF4-FFF2-40B4-BE49-F238E27FC236}">
                <a16:creationId xmlns:a16="http://schemas.microsoft.com/office/drawing/2014/main" id="{55341D88-EDE2-1549-2224-980EF37AE7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8320" y="219228"/>
            <a:ext cx="1645920" cy="5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2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n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8E63B-375F-1227-DB48-23B588009F5A}"/>
              </a:ext>
            </a:extLst>
          </p:cNvPr>
          <p:cNvSpPr/>
          <p:nvPr/>
        </p:nvSpPr>
        <p:spPr>
          <a:xfrm>
            <a:off x="0" y="-1077"/>
            <a:ext cx="12192000" cy="109835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4462F54C-6409-EA59-9F61-A0888A5D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36" y="240730"/>
            <a:ext cx="1644424" cy="531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4160" y="96076"/>
            <a:ext cx="765953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1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oos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AD1D93-4F1C-8C26-F33C-A2E2532C56DF}"/>
              </a:ext>
            </a:extLst>
          </p:cNvPr>
          <p:cNvGrpSpPr/>
          <p:nvPr userDrawn="1"/>
        </p:nvGrpSpPr>
        <p:grpSpPr>
          <a:xfrm>
            <a:off x="6813375" y="3688343"/>
            <a:ext cx="4650658" cy="1351806"/>
            <a:chOff x="7010400" y="3429000"/>
            <a:chExt cx="4650658" cy="1351806"/>
          </a:xfrm>
        </p:grpSpPr>
        <p:sp>
          <p:nvSpPr>
            <p:cNvPr id="7" name="Text Placeholder 6">
              <a:extLst>
                <a:ext uri="{FF2B5EF4-FFF2-40B4-BE49-F238E27FC236}">
                  <a16:creationId xmlns:a16="http://schemas.microsoft.com/office/drawing/2014/main" id="{6F6F6D13-8A04-4E65-F0F0-F5EC6AA0D801}"/>
                </a:ext>
              </a:extLst>
            </p:cNvPr>
            <p:cNvSpPr txBox="1">
              <a:spLocks/>
            </p:cNvSpPr>
            <p:nvPr/>
          </p:nvSpPr>
          <p:spPr>
            <a:xfrm>
              <a:off x="8536698" y="3589378"/>
              <a:ext cx="3124360" cy="10310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9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1pPr>
              <a:lvl2pPr marL="457189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2pPr>
              <a:lvl3pPr marL="914377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3pPr>
              <a:lvl4pPr marL="1371566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4pPr>
              <a:lvl5pPr marL="1828754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1" i="0" u="none" strike="noStrike" kern="900" cap="none" spc="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Brad Hunter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Principal &amp; Chief Operating Officer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brad.hunter@packagedagile.com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540-220-8138</a:t>
              </a:r>
            </a:p>
          </p:txBody>
        </p:sp>
        <p:pic>
          <p:nvPicPr>
            <p:cNvPr id="8" name="Picture Placeholder 33">
              <a:extLst>
                <a:ext uri="{FF2B5EF4-FFF2-40B4-BE49-F238E27FC236}">
                  <a16:creationId xmlns:a16="http://schemas.microsoft.com/office/drawing/2014/main" id="{AB4E6157-CD3D-9706-0ECD-D9BD3708B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476"/>
            <a:stretch/>
          </p:blipFill>
          <p:spPr>
            <a:xfrm>
              <a:off x="7010400" y="3429000"/>
              <a:ext cx="1351806" cy="1351806"/>
            </a:xfrm>
            <a:prstGeom prst="ellipse">
              <a:avLst/>
            </a:prstGeom>
            <a:noFill/>
            <a:ln w="12700"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40B396-C880-84B1-1A67-E0D7336A0B1D}"/>
              </a:ext>
            </a:extLst>
          </p:cNvPr>
          <p:cNvGrpSpPr/>
          <p:nvPr userDrawn="1"/>
        </p:nvGrpSpPr>
        <p:grpSpPr>
          <a:xfrm>
            <a:off x="842790" y="3688343"/>
            <a:ext cx="4535837" cy="1351806"/>
            <a:chOff x="1016000" y="3233077"/>
            <a:chExt cx="4535837" cy="1351806"/>
          </a:xfrm>
        </p:grpSpPr>
        <p:sp>
          <p:nvSpPr>
            <p:cNvPr id="11" name="Text Placeholder 6">
              <a:extLst>
                <a:ext uri="{FF2B5EF4-FFF2-40B4-BE49-F238E27FC236}">
                  <a16:creationId xmlns:a16="http://schemas.microsoft.com/office/drawing/2014/main" id="{8910F25C-7D9A-3926-A241-450BB0526BAE}"/>
                </a:ext>
              </a:extLst>
            </p:cNvPr>
            <p:cNvSpPr txBox="1">
              <a:spLocks/>
            </p:cNvSpPr>
            <p:nvPr/>
          </p:nvSpPr>
          <p:spPr>
            <a:xfrm>
              <a:off x="2542298" y="3393455"/>
              <a:ext cx="3009539" cy="10310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9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1pPr>
              <a:lvl2pPr marL="457189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2pPr>
              <a:lvl3pPr marL="914377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3pPr>
              <a:lvl4pPr marL="1371566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4pPr>
              <a:lvl5pPr marL="1828754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1" i="0" u="none" strike="noStrike" kern="900" cap="none" spc="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Dave Witkin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Managing Principal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dave.witkin@packagedagile.com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202-596-9050</a:t>
              </a:r>
            </a:p>
          </p:txBody>
        </p:sp>
        <p:pic>
          <p:nvPicPr>
            <p:cNvPr id="12" name="Picture Placeholder 33">
              <a:extLst>
                <a:ext uri="{FF2B5EF4-FFF2-40B4-BE49-F238E27FC236}">
                  <a16:creationId xmlns:a16="http://schemas.microsoft.com/office/drawing/2014/main" id="{66F17F50-A091-874E-E642-113F1A767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16000" y="3233077"/>
              <a:ext cx="1351806" cy="1351806"/>
            </a:xfrm>
            <a:prstGeom prst="ellipse">
              <a:avLst/>
            </a:prstGeom>
            <a:noFill/>
            <a:ln w="12700">
              <a:noFill/>
            </a:ln>
          </p:spPr>
        </p:pic>
      </p:grp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F9FB94F1-2D16-E6D5-D694-6571743325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14275" y="594077"/>
            <a:ext cx="4163451" cy="13455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AA6D0F-534E-70B1-485E-7CDBB047017D}"/>
              </a:ext>
            </a:extLst>
          </p:cNvPr>
          <p:cNvSpPr txBox="1"/>
          <p:nvPr userDrawn="1"/>
        </p:nvSpPr>
        <p:spPr>
          <a:xfrm>
            <a:off x="417385" y="6506030"/>
            <a:ext cx="2743200" cy="351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2025, Packaged Agile, LLC. Proprietary and Confidential. All Rights Reserved.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4AA636E-6C7A-35B6-AB36-D18C6FC6D749}"/>
              </a:ext>
            </a:extLst>
          </p:cNvPr>
          <p:cNvSpPr txBox="1"/>
          <p:nvPr userDrawn="1"/>
        </p:nvSpPr>
        <p:spPr>
          <a:xfrm>
            <a:off x="3946797" y="6244421"/>
            <a:ext cx="4392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www.packagedagile.com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sym typeface="Wingdings" panose="05000000000000000000" pitchFamily="2" charset="2"/>
              </a:rPr>
              <a:t>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info@packagedagile.com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161 Fort Evans Road, Suite 210, </a:t>
            </a:r>
            <a:r>
              <a:rPr lang="en-US" sz="1100">
                <a:solidFill>
                  <a:prstClr val="white"/>
                </a:solidFill>
                <a:latin typeface="RadikalW03-Regular" panose="01000000000000000000" pitchFamily="2" charset="0"/>
              </a:rPr>
              <a:t>Leesburg, VA 20176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B9B16A7D-2DE0-E851-705B-30E8CD77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en-US">
                <a:solidFill>
                  <a:schemeClr val="bg1"/>
                </a:solidFill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solidFill>
                  <a:schemeClr val="bg1"/>
                </a:solidFill>
                <a:latin typeface="RadikalW03-Regular" panose="01000000000000000000" pitchFamily="2" charset="0"/>
              </a:rPr>
              <a:pPr/>
              <a:t>‹#›</a:t>
            </a:fld>
            <a:endParaRPr lang="en-US">
              <a:solidFill>
                <a:schemeClr val="bg1"/>
              </a:solidFill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oose Blank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06A2B0C-34C1-3C72-3F94-82FB5091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506030"/>
            <a:ext cx="2743200" cy="24622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en-US">
                <a:solidFill>
                  <a:schemeClr val="bg1"/>
                </a:solidFill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solidFill>
                  <a:schemeClr val="bg1"/>
                </a:solidFill>
                <a:latin typeface="RadikalW03-Regular" panose="01000000000000000000" pitchFamily="2" charset="0"/>
              </a:rPr>
              <a:pPr/>
              <a:t>‹#›</a:t>
            </a:fld>
            <a:endParaRPr lang="en-US">
              <a:solidFill>
                <a:schemeClr val="bg1"/>
              </a:solidFill>
              <a:latin typeface="RadikalW03-Regular" panose="01000000000000000000" pitchFamily="2" charset="0"/>
            </a:endParaRPr>
          </a:p>
        </p:txBody>
      </p: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F9FB94F1-2D16-E6D5-D694-6571743325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14275" y="594077"/>
            <a:ext cx="4163451" cy="13455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AA6D0F-534E-70B1-485E-7CDBB047017D}"/>
              </a:ext>
            </a:extLst>
          </p:cNvPr>
          <p:cNvSpPr txBox="1"/>
          <p:nvPr userDrawn="1"/>
        </p:nvSpPr>
        <p:spPr>
          <a:xfrm>
            <a:off x="417385" y="6506030"/>
            <a:ext cx="2743200" cy="351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2025, Packaged Agile, LLC. Proprietary and Confidential. All Rights Reserved.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4AA636E-6C7A-35B6-AB36-D18C6FC6D749}"/>
              </a:ext>
            </a:extLst>
          </p:cNvPr>
          <p:cNvSpPr txBox="1"/>
          <p:nvPr userDrawn="1"/>
        </p:nvSpPr>
        <p:spPr>
          <a:xfrm>
            <a:off x="3946797" y="6244421"/>
            <a:ext cx="4392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www.packagedagile.com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sym typeface="Wingdings" panose="05000000000000000000" pitchFamily="2" charset="2"/>
              </a:rPr>
              <a:t>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info@packagedagile.com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161 Fort Evans Road, Suite 210, </a:t>
            </a:r>
            <a:r>
              <a:rPr lang="en-US" sz="1100">
                <a:solidFill>
                  <a:prstClr val="white"/>
                </a:solidFill>
                <a:latin typeface="RadikalW03-Regular" panose="01000000000000000000" pitchFamily="2" charset="0"/>
              </a:rPr>
              <a:t>Leesburg, VA 20176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C34F-65FF-0CF9-DB85-AE8FDEC237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4800" y="2784475"/>
            <a:ext cx="9042400" cy="23161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2pPr>
            <a:lvl3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3pPr>
            <a:lvl4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4pPr>
            <a:lvl5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32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4724400" y="6467083"/>
            <a:ext cx="2743200" cy="39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latin typeface="RadikalW03-Regular" panose="01000000000000000000" pitchFamily="2" charset="0"/>
              </a:defRPr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Google Shape;27;p37"/>
          <p:cNvSpPr txBox="1">
            <a:spLocks noGrp="1"/>
          </p:cNvSpPr>
          <p:nvPr>
            <p:ph type="title"/>
          </p:nvPr>
        </p:nvSpPr>
        <p:spPr>
          <a:xfrm>
            <a:off x="518412" y="61412"/>
            <a:ext cx="11067973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3200"/>
              <a:buFont typeface="Arial"/>
              <a:buNone/>
              <a:defRPr sz="3200">
                <a:latin typeface="RadikalW03-Regular" panose="01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E1B99-1891-4F9B-9F2A-2E1AA5508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113" y="1279525"/>
            <a:ext cx="11068050" cy="5103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47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768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CD54663-6D75-1553-75FB-8DC965EB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3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E441AC-5E2F-2714-7847-C4E3BF622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6284"/>
            <a:ext cx="10515600" cy="46606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770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adikalW03-Regular" panose="01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LaunchPad</a:t>
            </a:r>
            <a:endParaRPr lang="en-US" sz="360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The single-source for AI ideation and use-case management across your agency.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A8AAFA-0A9B-5DAF-E1CF-B074409F2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6280" y="2802619"/>
            <a:ext cx="274320" cy="769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Gibson" panose="02000000000000000000" pitchFamily="2" charset="77"/>
            </a:endParaRP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72AC9E16-93DC-E796-E340-366438CA398B}"/>
              </a:ext>
            </a:extLst>
          </p:cNvPr>
          <p:cNvSpPr txBox="1">
            <a:spLocks/>
          </p:cNvSpPr>
          <p:nvPr/>
        </p:nvSpPr>
        <p:spPr>
          <a:xfrm>
            <a:off x="469678" y="3113301"/>
            <a:ext cx="6295188" cy="2239090"/>
          </a:xfrm>
          <a:prstGeom prst="rect">
            <a:avLst/>
          </a:prstGeom>
        </p:spPr>
        <p:txBody>
          <a:bodyPr wrap="square" lIns="54864" tIns="54864" rIns="54864" bIns="54864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223838" algn="l"/>
              </a:tabLst>
              <a:defRPr sz="1200" kern="1200" baseline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54">
              <a:spcAft>
                <a:spcPts val="1000"/>
              </a:spcAft>
            </a:pPr>
            <a:r>
              <a:rPr lang="en-US" b="1" spc="200" dirty="0">
                <a:solidFill>
                  <a:srgbClr val="00A5E0"/>
                </a:solidFill>
                <a:sym typeface="Helvetica Light"/>
              </a:rPr>
              <a:t>Key Capabilities: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Guided AI-assisted workflow that transforms rough AI ideas into refined use cases that capture audience, business problem, value, and alignment to strategic objectives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AI Copilot challenges and refines each idea in real-time, identifying gaps before leadership ever sees it.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Configurable templates and smart fields (dropdowns, multi‑select chips, model card inputs) to meet </a:t>
            </a:r>
            <a:r>
              <a:rPr lang="en-US" sz="1150" kern="900" spc="20" dirty="0" err="1"/>
              <a:t>DoC</a:t>
            </a:r>
            <a:r>
              <a:rPr lang="en-US" sz="1150" kern="900" spc="20" dirty="0"/>
              <a:t>/OMB and governance requirements.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Routing capabilities to support review by E&amp;I, CAIO, and OGL as needed.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Draft‑save and revision workflows for collaboration and iterative improvement before final submission.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Dashboard with live tracking: submitted, under review, approved, or deployed.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lang="en-US" sz="1150" kern="900" spc="20" dirty="0"/>
              <a:t>Exports to Rally (GovCloud) as Epics/Features and branded PDF business cases for executive review.</a:t>
            </a:r>
            <a:endParaRPr lang="en-US" sz="1150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86730B7-60D5-BF41-1619-0C3B8667D4DB}"/>
              </a:ext>
            </a:extLst>
          </p:cNvPr>
          <p:cNvSpPr txBox="1">
            <a:spLocks/>
          </p:cNvSpPr>
          <p:nvPr/>
        </p:nvSpPr>
        <p:spPr>
          <a:xfrm>
            <a:off x="469677" y="1394725"/>
            <a:ext cx="6295189" cy="1174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None/>
            </a:pPr>
            <a:r>
              <a:rPr lang="en-US" sz="1150" dirty="0"/>
              <a:t>LaunchPad supports the full lifecycle of an AI idea in one flexible platform, serving everyone who touches it. Submitters are guided through an AI-assisted workflow — they start with the business problem, then refine it with an AI Copilot into a decision-ready use case. Reviewers vet, route, and give feedback in a tracked conversation. And leaders get a portfolio view to compare candidates and decide what to fund — so every idea is captured, vetted, and ready for executive review, end to end.</a:t>
            </a:r>
          </a:p>
        </p:txBody>
      </p:sp>
      <p:pic>
        <p:nvPicPr>
          <p:cNvPr id="38" name="Picture 37" descr="slid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409" y="2507049"/>
            <a:ext cx="4641637" cy="2399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7E35-8E56-73C0-1D46-61489ECB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D0DE6F-0BAA-42DC-E8DA-D6AB7EEAC481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A24D5C-8A6E-37EC-1420-AE60EC5FA770}"/>
              </a:ext>
            </a:extLst>
          </p:cNvPr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Guided Submission Workflow</a:t>
            </a:r>
            <a:endParaRPr lang="en-US" sz="3467">
              <a:latin typeface="RadikalW03-Regular" panose="01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D44BDE-8F39-4EC9-0B49-50DA615C5A3D}"/>
              </a:ext>
            </a:extLst>
          </p:cNvPr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Guided multi-step workflow vets raw ideas into decision-ready use cases with no training required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E14D48-CD31-50DF-89E6-2B646877DFE2}"/>
              </a:ext>
            </a:extLst>
          </p:cNvPr>
          <p:cNvSpPr/>
          <p:nvPr/>
        </p:nvSpPr>
        <p:spPr>
          <a:xfrm>
            <a:off x="853440" y="1383792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From Rough Idea to Business Case</a:t>
            </a:r>
            <a:endParaRPr lang="en-US" sz="2267">
              <a:latin typeface="RadikalW03-Regular" panose="01000000000000000000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F0D7A7-DA07-CE33-C268-9093642AAC6A}"/>
              </a:ext>
            </a:extLst>
          </p:cNvPr>
          <p:cNvSpPr/>
          <p:nvPr/>
        </p:nvSpPr>
        <p:spPr>
          <a:xfrm>
            <a:off x="853440" y="1999488"/>
            <a:ext cx="524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LaunchPad walks every submitter through a structured, plain-language workflow that pressure tests their AI idea. Each step forces clarity on a specific dimension: audience, problem, solution, value, alignment, feasibility, and success metrics.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9BC715-508F-14D7-B7AE-0AFB4A005C76}"/>
              </a:ext>
            </a:extLst>
          </p:cNvPr>
          <p:cNvSpPr/>
          <p:nvPr/>
        </p:nvSpPr>
        <p:spPr>
          <a:xfrm>
            <a:off x="853440" y="3474720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7B83D8-3364-2B03-152D-DB2F6A96B756}"/>
              </a:ext>
            </a:extLst>
          </p:cNvPr>
          <p:cNvSpPr/>
          <p:nvPr/>
        </p:nvSpPr>
        <p:spPr>
          <a:xfrm>
            <a:off x="853440" y="3474720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49F37F-58A2-1B80-6F88-D6E3AD0C381D}"/>
              </a:ext>
            </a:extLst>
          </p:cNvPr>
          <p:cNvSpPr/>
          <p:nvPr/>
        </p:nvSpPr>
        <p:spPr>
          <a:xfrm>
            <a:off x="1524000" y="3474720"/>
            <a:ext cx="457200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232736-98B6-BFB3-8ADA-89A2BD612760}"/>
              </a:ext>
            </a:extLst>
          </p:cNvPr>
          <p:cNvSpPr/>
          <p:nvPr/>
        </p:nvSpPr>
        <p:spPr>
          <a:xfrm>
            <a:off x="1767840" y="3474720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Submitter Info &amp; Overview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CBC465-8DAE-919E-EEBF-8E5372798C9D}"/>
              </a:ext>
            </a:extLst>
          </p:cNvPr>
          <p:cNvSpPr/>
          <p:nvPr/>
        </p:nvSpPr>
        <p:spPr>
          <a:xfrm>
            <a:off x="853440" y="3950208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E17FB0-93B6-4621-B81D-94DD14391563}"/>
              </a:ext>
            </a:extLst>
          </p:cNvPr>
          <p:cNvSpPr/>
          <p:nvPr/>
        </p:nvSpPr>
        <p:spPr>
          <a:xfrm>
            <a:off x="853440" y="3950208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F09723-2B21-62F7-A5F6-140A397DBA2E}"/>
              </a:ext>
            </a:extLst>
          </p:cNvPr>
          <p:cNvSpPr/>
          <p:nvPr/>
        </p:nvSpPr>
        <p:spPr>
          <a:xfrm>
            <a:off x="1524000" y="3950208"/>
            <a:ext cx="457200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CF12A-EFC1-2A0E-D8F5-CE497644B42C}"/>
              </a:ext>
            </a:extLst>
          </p:cNvPr>
          <p:cNvSpPr/>
          <p:nvPr/>
        </p:nvSpPr>
        <p:spPr>
          <a:xfrm>
            <a:off x="1767840" y="3950208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Target Users &amp; Problem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8382E29-B6F6-8DFF-2AD4-EB0A3D22259C}"/>
              </a:ext>
            </a:extLst>
          </p:cNvPr>
          <p:cNvSpPr/>
          <p:nvPr/>
        </p:nvSpPr>
        <p:spPr>
          <a:xfrm>
            <a:off x="853440" y="4425696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D568A5-258C-5D56-64CD-E5FBFE6009A9}"/>
              </a:ext>
            </a:extLst>
          </p:cNvPr>
          <p:cNvSpPr/>
          <p:nvPr/>
        </p:nvSpPr>
        <p:spPr>
          <a:xfrm>
            <a:off x="853440" y="4425696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3B45FD-259A-625A-18FC-CA5D99BE6C7D}"/>
              </a:ext>
            </a:extLst>
          </p:cNvPr>
          <p:cNvSpPr/>
          <p:nvPr/>
        </p:nvSpPr>
        <p:spPr>
          <a:xfrm>
            <a:off x="1524000" y="4425696"/>
            <a:ext cx="457200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55A95F-FFA5-7A78-B7CD-C729E362AC3E}"/>
              </a:ext>
            </a:extLst>
          </p:cNvPr>
          <p:cNvSpPr/>
          <p:nvPr/>
        </p:nvSpPr>
        <p:spPr>
          <a:xfrm>
            <a:off x="1767840" y="4425696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Solution, User &amp; Business Value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1D9F9A0-FACF-A75C-30FB-9AFDB8762AD5}"/>
              </a:ext>
            </a:extLst>
          </p:cNvPr>
          <p:cNvSpPr/>
          <p:nvPr/>
        </p:nvSpPr>
        <p:spPr>
          <a:xfrm>
            <a:off x="853440" y="4901184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C291DC-DA1C-A4BC-5911-9B72E717A03E}"/>
              </a:ext>
            </a:extLst>
          </p:cNvPr>
          <p:cNvSpPr/>
          <p:nvPr/>
        </p:nvSpPr>
        <p:spPr>
          <a:xfrm>
            <a:off x="853440" y="4901184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DF05FE4-C0CA-5834-E413-51D815DF8367}"/>
              </a:ext>
            </a:extLst>
          </p:cNvPr>
          <p:cNvSpPr/>
          <p:nvPr/>
        </p:nvSpPr>
        <p:spPr>
          <a:xfrm>
            <a:off x="1524000" y="4901184"/>
            <a:ext cx="457200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1DD781-D577-61B9-E8DE-010021B861CA}"/>
              </a:ext>
            </a:extLst>
          </p:cNvPr>
          <p:cNvSpPr/>
          <p:nvPr/>
        </p:nvSpPr>
        <p:spPr>
          <a:xfrm>
            <a:off x="1767840" y="4901184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Strategic Alignment to OKRs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A3F934A-A589-22A6-857F-5D7B676BCFFE}"/>
              </a:ext>
            </a:extLst>
          </p:cNvPr>
          <p:cNvSpPr/>
          <p:nvPr/>
        </p:nvSpPr>
        <p:spPr>
          <a:xfrm>
            <a:off x="853440" y="5376672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94BB52A-859A-B051-8FCB-E66771486CF7}"/>
              </a:ext>
            </a:extLst>
          </p:cNvPr>
          <p:cNvSpPr/>
          <p:nvPr/>
        </p:nvSpPr>
        <p:spPr>
          <a:xfrm>
            <a:off x="853440" y="5376672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9–10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EC58A09-3979-5EEA-48D2-FE3274C21AC9}"/>
              </a:ext>
            </a:extLst>
          </p:cNvPr>
          <p:cNvSpPr/>
          <p:nvPr/>
        </p:nvSpPr>
        <p:spPr>
          <a:xfrm>
            <a:off x="1524000" y="5376672"/>
            <a:ext cx="457200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D5E00F-1777-2F43-7B9C-64556A75C3DA}"/>
              </a:ext>
            </a:extLst>
          </p:cNvPr>
          <p:cNvSpPr/>
          <p:nvPr/>
        </p:nvSpPr>
        <p:spPr>
          <a:xfrm>
            <a:off x="1767840" y="5376672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Feasibility &amp; Success Metrics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73C9703-98F3-74A6-1E1D-4DAC51FD4C70}"/>
              </a:ext>
            </a:extLst>
          </p:cNvPr>
          <p:cNvSpPr/>
          <p:nvPr/>
        </p:nvSpPr>
        <p:spPr>
          <a:xfrm>
            <a:off x="853440" y="5852160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EFA6EB3-6DC7-4533-4B6A-7FA38B5DC8D2}"/>
              </a:ext>
            </a:extLst>
          </p:cNvPr>
          <p:cNvSpPr/>
          <p:nvPr/>
        </p:nvSpPr>
        <p:spPr>
          <a:xfrm>
            <a:off x="853440" y="5852160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11–12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2E9D4BB-55FC-1866-F935-704D97869EB9}"/>
              </a:ext>
            </a:extLst>
          </p:cNvPr>
          <p:cNvSpPr/>
          <p:nvPr/>
        </p:nvSpPr>
        <p:spPr>
          <a:xfrm>
            <a:off x="1524000" y="5852160"/>
            <a:ext cx="457200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FE8D4BC-D288-D6B4-0483-DDA9685E0B77}"/>
              </a:ext>
            </a:extLst>
          </p:cNvPr>
          <p:cNvSpPr/>
          <p:nvPr/>
        </p:nvSpPr>
        <p:spPr>
          <a:xfrm>
            <a:off x="1767840" y="5852160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Review, Submit &amp; Confirm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B3A7A50-4C6C-9A58-3082-88805351900F}"/>
              </a:ext>
            </a:extLst>
          </p:cNvPr>
          <p:cNvSpPr/>
          <p:nvPr/>
        </p:nvSpPr>
        <p:spPr>
          <a:xfrm>
            <a:off x="6564923" y="3620560"/>
            <a:ext cx="512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Step 2: Use Case Overview</a:t>
            </a:r>
            <a:endParaRPr lang="en-US" sz="1050">
              <a:latin typeface="RadikalW03-Regular" panose="01000000000000000000" pitchFamily="2" charset="0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E9A5102B-EAF3-8AE9-AF9E-7DF45E35E9B2}"/>
              </a:ext>
            </a:extLst>
          </p:cNvPr>
          <p:cNvSpPr/>
          <p:nvPr/>
        </p:nvSpPr>
        <p:spPr>
          <a:xfrm>
            <a:off x="6564923" y="6553020"/>
            <a:ext cx="512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Step 7: Estimate Business Value with AI Co-Pilot</a:t>
            </a:r>
            <a:endParaRPr lang="en-US" sz="1050">
              <a:latin typeface="RadikalW03-Regular" panose="01000000000000000000" pitchFamily="2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4B2944A9-8F70-7F42-F8B6-DDE85CCDD1C7}"/>
              </a:ext>
            </a:extLst>
          </p:cNvPr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42" name="Picture 41" descr="slid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532" y="1340649"/>
            <a:ext cx="4099423" cy="2256455"/>
          </a:xfrm>
          <a:prstGeom prst="rect">
            <a:avLst/>
          </a:prstGeom>
        </p:spPr>
      </p:pic>
      <p:pic>
        <p:nvPicPr>
          <p:cNvPr id="43" name="Picture 42" descr="slide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002" y="3950208"/>
            <a:ext cx="3822482" cy="252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26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Co-Pilot: Validate &amp; Refine</a:t>
            </a:r>
            <a:endParaRPr lang="en-US" sz="3467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AI-powered vetting turns rough ideas into qualified, decision-ready use cases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58496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>
              <a:latin typeface="RadikalW03-Regular" panose="01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40" y="2182368"/>
            <a:ext cx="5486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4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At each step, the Co-Pilot challenges the submitter’s thinking, flagging gaps, questioning assumptions, and strengthening weak areas. One click generates a refined, submission-ready summary that’s already been pressure tested.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3440" y="3316224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3440" y="3316224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3462528"/>
            <a:ext cx="390144" cy="3901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67840" y="34137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Mission &amp; Compliance Awareness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767840" y="3764715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Vets ideas against federal constraints, FedRAMP, 508, and your agency's realities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53440" y="4328160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53440" y="4328160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40" y="4474464"/>
            <a:ext cx="390144" cy="3901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67840" y="442569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767840" y="4776651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Schema-validated responses ensure consistent, well-formatted summaries every time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53440" y="5340096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53440" y="5340096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" y="5486400"/>
            <a:ext cx="390144" cy="3901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67840" y="5437632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Dual-Field Architecture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767840" y="5788587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Raw inputs preserved alongside AI-polished summaries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705600" y="158496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267">
              <a:latin typeface="RadikalW03-Regular" panose="01000000000000000000" pitchFamily="2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705600" y="2255520"/>
            <a:ext cx="4876800" cy="755904"/>
          </a:xfrm>
          <a:prstGeom prst="rect">
            <a:avLst/>
          </a:prstGeom>
          <a:solidFill>
            <a:srgbClr val="003B6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949440" y="2316480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Next.js 14 + TypeScript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949440" y="2657856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App Router, React Context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705600" y="3133344"/>
            <a:ext cx="4876800" cy="755904"/>
          </a:xfrm>
          <a:prstGeom prst="rect">
            <a:avLst/>
          </a:prstGeom>
          <a:solidFill>
            <a:srgbClr val="1A5A9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949440" y="3194304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Tailwind CSS + shadcn/ui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949440" y="3535680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-branded components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705600" y="4011168"/>
            <a:ext cx="4876800" cy="755904"/>
          </a:xfrm>
          <a:prstGeom prst="rect">
            <a:avLst/>
          </a:prstGeom>
          <a:solidFill>
            <a:srgbClr val="0073C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6949440" y="4072128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Integration Layer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949440" y="441350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Structured, validated responses from approved LLM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6705600" y="4888992"/>
            <a:ext cx="4876800" cy="755904"/>
          </a:xfrm>
          <a:prstGeom prst="rect">
            <a:avLst/>
          </a:prstGeom>
          <a:solidFill>
            <a:srgbClr val="2D8A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6949440" y="4949952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LLM Engine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6949440" y="5291328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Model agnostic. Adaptable to an approved endpoint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6705600" y="5766816"/>
            <a:ext cx="4876800" cy="755904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949440" y="5827776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Flexible Deployment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949440" y="6169152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Containerized for on-prem, Cloud.gov, or GovCloud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Administration Dashboard</a:t>
            </a:r>
            <a:endParaRPr lang="en-US" sz="3467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Real-time visibility into the idea pipeline, from draft through approval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70558" y="1584960"/>
            <a:ext cx="2560320" cy="134112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0558" y="1584960"/>
            <a:ext cx="2560320" cy="6096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58" y="176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003B6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128</a:t>
            </a:r>
            <a:endParaRPr lang="en-US" sz="3733">
              <a:latin typeface="RadikalW03-Regular" panose="01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558" y="2255520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Total Submissions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0558" y="2535936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+12% from last month</a:t>
            </a:r>
            <a:endParaRPr lang="en-US" sz="1133">
              <a:latin typeface="RadikalW03-Regular" panose="010000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18" y="1584960"/>
            <a:ext cx="2560320" cy="134112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74718" y="1584960"/>
            <a:ext cx="2560320" cy="6096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18" y="176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003B6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3733">
              <a:latin typeface="RadikalW03-Regular" panose="01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18" y="2255520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18" y="2535936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Approval to deployment</a:t>
            </a:r>
            <a:endParaRPr lang="en-US" sz="1133">
              <a:latin typeface="RadikalW03-Regular" panose="010000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78878" y="1584960"/>
            <a:ext cx="2560320" cy="134112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78878" y="1584960"/>
            <a:ext cx="2560320" cy="6096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78878" y="176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003B6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12.5d</a:t>
            </a:r>
            <a:endParaRPr lang="en-US" sz="3733">
              <a:latin typeface="RadikalW03-Regular" panose="01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78878" y="2255520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Avg. Completion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78878" y="2535936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Draft to review</a:t>
            </a:r>
            <a:endParaRPr lang="en-US" sz="1133">
              <a:latin typeface="RadikalW03-Regular" panose="010000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83038" y="1584960"/>
            <a:ext cx="2560320" cy="134112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83038" y="1584960"/>
            <a:ext cx="2560320" cy="6096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83038" y="176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003B6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733">
              <a:latin typeface="RadikalW03-Regular" panose="01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83038" y="2255520"/>
            <a:ext cx="2560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83038" y="2535936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Patents, TM, OCIO, OGC</a:t>
            </a:r>
            <a:endParaRPr lang="en-US" sz="1133">
              <a:latin typeface="RadikalW03-Regular" panose="01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70558" y="3352800"/>
            <a:ext cx="5242560" cy="26822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70558" y="6096000"/>
            <a:ext cx="5242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Overview: KPIs, Activity &amp; Department Breakdown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278878" y="3352800"/>
            <a:ext cx="5242560" cy="26822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278878" y="6096000"/>
            <a:ext cx="5242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All Drafts: Progress Tracking &amp; Status Management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70558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32" name="Picture 31" descr="slide5 admin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454" y="3352800"/>
            <a:ext cx="4112768" cy="2682240"/>
          </a:xfrm>
          <a:prstGeom prst="rect">
            <a:avLst/>
          </a:prstGeom>
        </p:spPr>
      </p:pic>
      <p:pic>
        <p:nvPicPr>
          <p:cNvPr id="33" name="Picture 32" descr="slide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128" y="3352800"/>
            <a:ext cx="431006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Delivery &amp; IP Model</a:t>
            </a:r>
            <a:endParaRPr lang="en-US" sz="3467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 supported commercial capability — without the open-source burden on your team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335024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Delivered and operated as commercial software by Packaged Agile — your team brings requirements and access, not hands on the source. Because government staff never author or modify the code, it stays a commercial product, not CC0 public domain.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3440" y="1950720"/>
            <a:ext cx="3352800" cy="2438400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3440" y="1950720"/>
            <a:ext cx="3352800" cy="73152"/>
          </a:xfrm>
          <a:prstGeom prst="rect">
            <a:avLst/>
          </a:prstGeom>
          <a:solidFill>
            <a:srgbClr val="0A4D82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36320" y="2097024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A4D82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6320" y="2316480"/>
            <a:ext cx="298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We build and run it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6320" y="2633472"/>
            <a:ext cx="298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Vendor-operated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6320" y="2901696"/>
            <a:ext cx="298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Delivered as a commercial item (GSA MAS schedule)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Packaged Agile owns the engineering and sustainment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Runs inside your accredited boundary (GovCloud)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Wired to your SSO and your approved model (Bedrock IL4/5)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30624" y="2987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>
                <a:solidFill>
                  <a:srgbClr val="0073C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50080" y="1950720"/>
            <a:ext cx="3352800" cy="2438400"/>
          </a:xfrm>
          <a:prstGeom prst="rect">
            <a:avLst/>
          </a:prstGeom>
          <a:solidFill>
            <a:srgbClr val="E6F4F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50080" y="1950720"/>
            <a:ext cx="3352800" cy="73152"/>
          </a:xfrm>
          <a:prstGeom prst="rect">
            <a:avLst/>
          </a:prstGeom>
          <a:solidFill>
            <a:srgbClr val="0D6EAA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32960" y="2097024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D6EAA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316480"/>
            <a:ext cx="298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Stays commercial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32960" y="2633472"/>
            <a:ext cx="298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No CC0 exposure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32960" y="2901696"/>
            <a:ext cx="298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Your staff don't write or modify the source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So the code isn't government-authored — no automatic CC0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You receive a license to use and operate it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We retain and continuously improve the codebase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27264" y="2987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>
                <a:solidFill>
                  <a:srgbClr val="0073C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1950720"/>
            <a:ext cx="3352800" cy="2438400"/>
          </a:xfrm>
          <a:prstGeom prst="rect">
            <a:avLst/>
          </a:prstGeom>
          <a:solidFill>
            <a:srgbClr val="E8FA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46720" y="1950720"/>
            <a:ext cx="33528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0" y="2097024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D948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0" y="2316480"/>
            <a:ext cx="298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Requirements, not engineering</a:t>
            </a:r>
            <a:endParaRPr lang="en-US" sz="1867" dirty="0">
              <a:latin typeface="RadikalW03-Regular" panose="01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2633472"/>
            <a:ext cx="298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Nothing to inherit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0" y="2901696"/>
            <a:ext cx="298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No codebase to staff, secure, or sustain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Provide data owners and environment access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Shape the wizard, prompts, and governance with us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 supported, evolving capability — not a one-time handoff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3440" y="4632960"/>
            <a:ext cx="5120640" cy="164592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3440" y="4632960"/>
            <a:ext cx="73152" cy="1645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8240" y="4706112"/>
            <a:ext cx="4632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8240" y="4998720"/>
            <a:ext cx="4632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The #1 federal-software trap: once a government employee writes or modifies code, it becomes CC0 public domain.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Keeping engineering on our side keeps your investment a supported product, not an open-source liability.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You still get full transparency, control, and an exit path — without inheriting the build.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0" y="4632960"/>
            <a:ext cx="5120640" cy="164592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17920" y="4632960"/>
            <a:ext cx="73152" cy="164592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22720" y="4706112"/>
            <a:ext cx="4632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Bottom line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22720" y="4998720"/>
            <a:ext cx="4632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You operate it. We build it.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The IP stays commercial — no open-source burden.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You get the capability without inheriting the codebase.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/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344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67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Code-complete today: 8–12 weeks from kickoff to production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335024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LaunchPad's codebase is built and functional. The path to production is adapting it to your agency's on-prem infrastructure, identity systems, and AI access requirements.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3440" y="1950720"/>
            <a:ext cx="3352800" cy="2438400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3440" y="1950720"/>
            <a:ext cx="3352800" cy="73152"/>
          </a:xfrm>
          <a:prstGeom prst="rect">
            <a:avLst/>
          </a:prstGeom>
          <a:solidFill>
            <a:srgbClr val="0A4D82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36320" y="2097024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A4D82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6320" y="2316480"/>
            <a:ext cx="298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6320" y="2633472"/>
            <a:ext cx="298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6320" y="2901696"/>
            <a:ext cx="298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Containerize application (Docker)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Deploy to hosting environment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Integrate SSO / identity provider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Stand up database &amp; migrate persistence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30624" y="2987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>
                <a:solidFill>
                  <a:srgbClr val="0073C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50080" y="1950720"/>
            <a:ext cx="3352800" cy="2438400"/>
          </a:xfrm>
          <a:prstGeom prst="rect">
            <a:avLst/>
          </a:prstGeom>
          <a:solidFill>
            <a:srgbClr val="E6F4F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50080" y="1950720"/>
            <a:ext cx="3352800" cy="73152"/>
          </a:xfrm>
          <a:prstGeom prst="rect">
            <a:avLst/>
          </a:prstGeom>
          <a:solidFill>
            <a:srgbClr val="0D6EAA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32960" y="2097024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D6EAA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316480"/>
            <a:ext cx="298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&amp; Integration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32960" y="2633472"/>
            <a:ext cx="298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32960" y="2901696"/>
            <a:ext cx="298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Configure approved AI gateway endpoint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Adapt prompts for production LLM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Build Rally (GovCloud) export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Review routing, notifications, &amp; 508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27264" y="2987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>
                <a:solidFill>
                  <a:srgbClr val="0073C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1950720"/>
            <a:ext cx="3352800" cy="2438400"/>
          </a:xfrm>
          <a:prstGeom prst="rect">
            <a:avLst/>
          </a:prstGeom>
          <a:solidFill>
            <a:srgbClr val="E8FA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46720" y="1950720"/>
            <a:ext cx="33528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0" y="2097024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D948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0" y="2316480"/>
            <a:ext cx="298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Harden</a:t>
            </a:r>
            <a:endParaRPr lang="en-US" sz="1867" dirty="0">
              <a:latin typeface="RadikalW03-Regular" panose="01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2633472"/>
            <a:ext cx="298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0" y="2901696"/>
            <a:ext cx="298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Security scanning &amp; pen testing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UAT with pilot group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ATO documentation support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Production cutover &amp; admin training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3440" y="4632960"/>
            <a:ext cx="5120640" cy="164592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3440" y="4632960"/>
            <a:ext cx="73152" cy="1645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8240" y="4706112"/>
            <a:ext cx="4632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Decision Points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8240" y="4998720"/>
            <a:ext cx="4632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Hosting: On-prem, Cloud.gov, or GovCloud?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AI access: FedRAMP'd Anthropic, Azure OpenAI, or internal gateway?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ATO: Standalone, or inherit existing boundary?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0" y="4632960"/>
            <a:ext cx="5120640" cy="164592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17920" y="4632960"/>
            <a:ext cx="73152" cy="164592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22720" y="4706112"/>
            <a:ext cx="4632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Key Assumptions</a:t>
            </a:r>
            <a:endParaRPr lang="en-US" sz="1333">
              <a:latin typeface="RadikalW03-Regular" panose="010000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22720" y="4998720"/>
            <a:ext cx="4632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Dedicated 2–3-person team with environment access from day one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 technical POC empowered to unblock decisions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Hosting &amp; AI endpoint available or provisionable within Phase 1</a:t>
            </a:r>
            <a:endParaRPr lang="en-US" sz="1067">
              <a:latin typeface="RadikalW03-Regular" panose="01000000000000000000" pitchFamily="2" charset="0"/>
            </a:endParaRPr>
          </a:p>
          <a:p>
            <a:pPr marL="457189" indent="-457189">
              <a:lnSpc>
                <a:spcPct val="120000"/>
              </a:lnSpc>
              <a:spcAft>
                <a:spcPts val="267"/>
              </a:spcAft>
              <a:buSzPct val="100000"/>
              <a:buChar char="•"/>
            </a:pPr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Lightweight ATO path (pilot authority or inherited boundary)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344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ckaged Agile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6CA"/>
      </a:accent1>
      <a:accent2>
        <a:srgbClr val="E5A213"/>
      </a:accent2>
      <a:accent3>
        <a:srgbClr val="F16224"/>
      </a:accent3>
      <a:accent4>
        <a:srgbClr val="503991"/>
      </a:accent4>
      <a:accent5>
        <a:srgbClr val="B40D18"/>
      </a:accent5>
      <a:accent6>
        <a:srgbClr val="539A3D"/>
      </a:accent6>
      <a:hlink>
        <a:srgbClr val="3FACE2"/>
      </a:hlink>
      <a:folHlink>
        <a:srgbClr val="986498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tlCol="0" anchor="t"/>
      <a:lstStyle>
        <a:defPPr algn="ctr">
          <a:lnSpc>
            <a:spcPct val="110000"/>
          </a:lnSpc>
          <a:spcAft>
            <a:spcPts val="600"/>
          </a:spcAft>
          <a:defRPr dirty="0" smtClean="0">
            <a:solidFill>
              <a:sysClr val="windowText" lastClr="000000"/>
            </a:solidFill>
            <a:latin typeface="RadikalW03-Regular" panose="010000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1200"/>
          </a:spcAft>
          <a:defRPr dirty="0" smtClean="0">
            <a:latin typeface="RadikalW03-Regular" panose="01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A PowerPoint Template 2024-10-17" id="{E5BC60F3-1986-4FC7-828E-4FD8CB99CCC4}" vid="{2EC86B04-880B-4058-8CA4-226125F58B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4239c7-dff5-4dbc-89c5-0622eff42a63">
      <Terms xmlns="http://schemas.microsoft.com/office/infopath/2007/PartnerControls"/>
    </lcf76f155ced4ddcb4097134ff3c332f>
    <TaxCatchAll xmlns="b3abc1ba-4317-4f6b-9823-27b7f84e4470" xsi:nil="true"/>
    <c0209077bfde4f4890e9716ca0fc2b6e xmlns="264239c7-dff5-4dbc-89c5-0622eff42a63">
      <Terms xmlns="http://schemas.microsoft.com/office/infopath/2007/PartnerControls"/>
    </c0209077bfde4f4890e9716ca0fc2b6e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C8A76A8FEFC6468ACB89D6098A9F50" ma:contentTypeVersion="20" ma:contentTypeDescription="Create a new document." ma:contentTypeScope="" ma:versionID="5ed35611633ce1614d6cfc157583a616">
  <xsd:schema xmlns:xsd="http://www.w3.org/2001/XMLSchema" xmlns:xs="http://www.w3.org/2001/XMLSchema" xmlns:p="http://schemas.microsoft.com/office/2006/metadata/properties" xmlns:ns2="264239c7-dff5-4dbc-89c5-0622eff42a63" xmlns:ns3="b3abc1ba-4317-4f6b-9823-27b7f84e4470" targetNamespace="http://schemas.microsoft.com/office/2006/metadata/properties" ma:root="true" ma:fieldsID="0b82cf627c5169d5feba29cbf982983f" ns2:_="" ns3:_="">
    <xsd:import namespace="264239c7-dff5-4dbc-89c5-0622eff42a63"/>
    <xsd:import namespace="b3abc1ba-4317-4f6b-9823-27b7f84e44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0209077bfde4f4890e9716ca0fc2b6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239c7-dff5-4dbc-89c5-0622eff42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4174dce-25f2-4145-bcbe-984449fda2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0209077bfde4f4890e9716ca0fc2b6e" ma:index="21" nillable="true" ma:taxonomy="true" ma:internalName="c0209077bfde4f4890e9716ca0fc2b6e" ma:taxonomyFieldName="Document_x0020_Tag" ma:displayName="Status Tag" ma:default="" ma:fieldId="{c0209077-bfde-4f48-90e9-716ca0fc2b6e}" ma:sspId="e4174dce-25f2-4145-bcbe-984449fda253" ma:termSetId="8ed8c9ea-7052-4c1d-a4d7-b9c10bffea6f" ma:anchorId="e772c4cd-bd3b-46f7-b4d7-e0a67eb0252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bc1ba-4317-4f6b-9823-27b7f84e447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6706216-35a2-4817-a4f1-5405cbd831d9}" ma:internalName="TaxCatchAll" ma:showField="CatchAllData" ma:web="b3abc1ba-4317-4f6b-9823-27b7f84e44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A3C319-3245-4727-A5EC-91F2AA50E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578FEA-68E2-4565-B05C-D8C02AD69070}">
  <ds:schemaRefs>
    <ds:schemaRef ds:uri="264239c7-dff5-4dbc-89c5-0622eff42a63"/>
    <ds:schemaRef ds:uri="b3abc1ba-4317-4f6b-9823-27b7f84e447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F63CFD6-D7DC-45D1-8D93-0E1FDA83F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4239c7-dff5-4dbc-89c5-0622eff42a63"/>
    <ds:schemaRef ds:uri="b3abc1ba-4317-4f6b-9823-27b7f84e44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Widescreen</PresentationFormat>
  <Paragraphs>111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Gibson</vt:lpstr>
      <vt:lpstr>Helvetica Light</vt:lpstr>
      <vt:lpstr>RadikalW03-Regular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Witkin</dc:creator>
  <cp:lastModifiedBy>Matt Shankle</cp:lastModifiedBy>
  <cp:revision>2</cp:revision>
  <dcterms:created xsi:type="dcterms:W3CDTF">2022-02-19T17:28:00Z</dcterms:created>
  <dcterms:modified xsi:type="dcterms:W3CDTF">2026-06-08T18:07:08Z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0x0101005FC8A76A8FEFC6468ACB89D6098A9F50</vt:lpwstr>
  </property>
  <property fmtid="{D5CDD505-2E9C-101B-9397-08002B2CF9AE}" pid="3" name="Order">
    <vt:r8>24466800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Document_x0020_Tag">
    <vt:lpwstr/>
  </property>
  <property fmtid="{D5CDD505-2E9C-101B-9397-08002B2CF9AE}" pid="8" name="MediaServiceImageTags">
    <vt:lpwstr/>
  </property>
  <property fmtid="{D5CDD505-2E9C-101B-9397-08002B2CF9AE}" pid="9" name="Document Tag">
    <vt:lpwstr/>
  </property>
</Properties>
</file>